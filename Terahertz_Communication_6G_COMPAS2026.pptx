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5" r:id="rId1"/>
  </p:sldMasterIdLst>
  <p:notesMasterIdLst>
    <p:notesMasterId r:id="rId13"/>
  </p:notesMasterIdLst>
  <p:sldIdLst>
    <p:sldId id="279" r:id="rId2"/>
    <p:sldId id="280" r:id="rId3"/>
    <p:sldId id="281" r:id="rId4"/>
    <p:sldId id="282" r:id="rId5"/>
    <p:sldId id="278" r:id="rId6"/>
    <p:sldId id="283" r:id="rId7"/>
    <p:sldId id="284" r:id="rId8"/>
    <p:sldId id="285" r:id="rId9"/>
    <p:sldId id="286" r:id="rId10"/>
    <p:sldId id="287" r:id="rId11"/>
    <p:sldId id="28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7995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6007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328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0636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7272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4358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1139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9741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0823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9667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194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6864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102B523F-4A76-4E2C-8D27-69CD37690CE4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E55822D-5016-45E5-8C15-881BB8C8E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7F5B9D4-0123-4C18-9583-695CC2AB40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1A47B0A4-A7F6-4E0B-B744-2E67AF5A7EB6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F1F6662D-050C-4862-97B5-84B8B5454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8F3CC39C-173A-425E-96F9-AAA59070EFB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076B44F-3A8C-466D-ACA7-28D7D7A7B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18433A48-F09B-41F0-BDFF-7FD38F2B5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6A1F5BEE-3546-4FD4-8997-E7031049A4E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B19C615-25B5-4F8C-ABE2-0E90AF0AD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62C439C1-1F21-4425-94CE-39DC44966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3EB4EFF2-D010-42B9-AC45-0AA9934641E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7D92B0AA-991D-4E39-BBA5-A88B9EC20E6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64715FF-34F9-4BED-81DB-BE304407F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864130CB-59CC-4397-B4F0-9AE641D29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l="4167" r="41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White fade for cover readability">
            <a:extLst>
              <a:ext uri="{FF2B5EF4-FFF2-40B4-BE49-F238E27FC236}">
                <a16:creationId xmlns:a16="http://schemas.microsoft.com/office/drawing/2014/main" id="{2D737CED-DD13-43F6-B09F-848C58DBB8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42000">
                <a:srgbClr val="FFFFFF">
                  <a:alpha val="93000"/>
                </a:srgbClr>
              </a:gs>
              <a:gs pos="100000">
                <a:srgbClr val="FFFFFF">
                  <a:alpha val="67000"/>
                </a:srgbClr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7700" y="386153"/>
            <a:ext cx="1333500" cy="1196715"/>
          </a:xfrm>
          <a:prstGeom prst="rect">
            <a:avLst/>
          </a:prstGeom>
        </p:spPr>
      </p:pic>
      <p:sp>
        <p:nvSpPr>
          <p:cNvPr id="4" name="COMPAS 2026">
            <a:extLst>
              <a:ext uri="{FF2B5EF4-FFF2-40B4-BE49-F238E27FC236}">
                <a16:creationId xmlns:a16="http://schemas.microsoft.com/office/drawing/2014/main" id="{0AF0BD6F-CE95-4E99-BF1E-0DC99A64C588}"/>
              </a:ext>
            </a:extLst>
          </p:cNvPr>
          <p:cNvSpPr>
            <a:spLocks noGrp="1"/>
          </p:cNvSpPr>
          <p:nvPr/>
        </p:nvSpPr>
        <p:spPr>
          <a:xfrm>
            <a:off x="2400300" y="466725"/>
            <a:ext cx="6286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5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8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COMPAS 2026</a:t>
            </a:r>
          </a:p>
        </p:txBody>
      </p:sp>
      <p:sp>
        <p:nvSpPr>
          <p:cNvPr id="5" name="IEEE 3rd International Conference on&#10;Computing, Applications and ">
            <a:extLst>
              <a:ext uri="{FF2B5EF4-FFF2-40B4-BE49-F238E27FC236}">
                <a16:creationId xmlns:a16="http://schemas.microsoft.com/office/drawing/2014/main" id="{BB687053-FFFF-4E8D-9E1D-3BCDF83B03DE}"/>
              </a:ext>
            </a:extLst>
          </p:cNvPr>
          <p:cNvSpPr>
            <a:spLocks noGrp="1"/>
          </p:cNvSpPr>
          <p:nvPr/>
        </p:nvSpPr>
        <p:spPr>
          <a:xfrm>
            <a:off x="2400300" y="1019175"/>
            <a:ext cx="7620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IEEE 3rd International Conference on</a:t>
            </a:r>
            <a:r>
              <a:rPr lang="en-US" sz="2400" b="0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Computing, Applications and Systems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66EE64CF-3E88-4B0E-8328-1E3C10EDDB13}"/>
              </a:ext>
            </a:extLst>
          </p:cNvPr>
          <p:cNvSpPr>
            <a:spLocks noGrp="1"/>
          </p:cNvSpPr>
          <p:nvPr/>
        </p:nvSpPr>
        <p:spPr>
          <a:xfrm>
            <a:off x="647700" y="2076450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[Paper title in sentence case]">
            <a:extLst>
              <a:ext uri="{FF2B5EF4-FFF2-40B4-BE49-F238E27FC236}">
                <a16:creationId xmlns:a16="http://schemas.microsoft.com/office/drawing/2014/main" id="{A669517A-07E2-4255-803A-25DA9AF519F5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10763250" cy="1343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50" b="1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dirty="0"/>
              <a:t>Terahertz Communication for Future 6G Wireless Networks</a:t>
            </a:r>
          </a:p>
        </p:txBody>
      </p:sp>
      <p:sp>
        <p:nvSpPr>
          <p:cNvPr id="29" name="[Presenter name]">
            <a:extLst>
              <a:ext uri="{FF2B5EF4-FFF2-40B4-BE49-F238E27FC236}">
                <a16:creationId xmlns:a16="http://schemas.microsoft.com/office/drawing/2014/main" id="{CB51B77A-17ED-45E5-03CE-9D7F55E162B7}"/>
              </a:ext>
            </a:extLst>
          </p:cNvPr>
          <p:cNvSpPr>
            <a:spLocks noGrp="1"/>
          </p:cNvSpPr>
          <p:nvPr/>
        </p:nvSpPr>
        <p:spPr>
          <a:xfrm>
            <a:off x="647700" y="4162425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50" b="1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lang="en-US" sz="28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Afifa Tahsin Haq</a:t>
            </a:r>
            <a:endParaRPr sz="2800" b="1" dirty="0">
              <a:solidFill>
                <a:srgbClr val="1226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[Co-authors]&#10;[Department, institution and country]">
            <a:extLst>
              <a:ext uri="{FF2B5EF4-FFF2-40B4-BE49-F238E27FC236}">
                <a16:creationId xmlns:a16="http://schemas.microsoft.com/office/drawing/2014/main" id="{E4898F20-DFEA-8BB0-39C6-4C4DCF608EE9}"/>
              </a:ext>
            </a:extLst>
          </p:cNvPr>
          <p:cNvSpPr>
            <a:spLocks noGrp="1"/>
          </p:cNvSpPr>
          <p:nvPr/>
        </p:nvSpPr>
        <p:spPr>
          <a:xfrm>
            <a:off x="647700" y="4657725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endParaRPr dirty="0"/>
          </a:p>
          <a:p>
            <a:pPr>
              <a:defRPr sz="17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sz="19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Mawlana Bhashani Science and Technology University, Bangladesh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E6DB8154-6175-4430-673F-8FD2FA2D6613}"/>
              </a:ext>
            </a:extLst>
          </p:cNvPr>
          <p:cNvSpPr>
            <a:spLocks noGrp="1"/>
          </p:cNvSpPr>
          <p:nvPr/>
        </p:nvSpPr>
        <p:spPr>
          <a:xfrm>
            <a:off x="647700" y="5743575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B7126CC-250D-C7FD-AE45-7F3ACB8CF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52303" y="5895975"/>
            <a:ext cx="1705294" cy="695325"/>
          </a:xfrm>
          <a:prstGeom prst="rect">
            <a:avLst/>
          </a:prstGeom>
        </p:spPr>
      </p:pic>
      <p:sp>
        <p:nvSpPr>
          <p:cNvPr id="37" name="Paper ID: [000]">
            <a:extLst>
              <a:ext uri="{FF2B5EF4-FFF2-40B4-BE49-F238E27FC236}">
                <a16:creationId xmlns:a16="http://schemas.microsoft.com/office/drawing/2014/main" id="{9426E7B0-42C6-79BD-B6E7-C3FEC8670A43}"/>
              </a:ext>
            </a:extLst>
          </p:cNvPr>
          <p:cNvSpPr>
            <a:spLocks noGrp="1"/>
          </p:cNvSpPr>
          <p:nvPr/>
        </p:nvSpPr>
        <p:spPr>
          <a:xfrm>
            <a:off x="2886075" y="6038850"/>
            <a:ext cx="2714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Paper ID: IT220</a:t>
            </a:r>
            <a:r>
              <a:rPr lang="en-US" sz="20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0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9" name="9–10 October 2026&#10;University of Dhaka, Bangladesh">
            <a:extLst>
              <a:ext uri="{FF2B5EF4-FFF2-40B4-BE49-F238E27FC236}">
                <a16:creationId xmlns:a16="http://schemas.microsoft.com/office/drawing/2014/main" id="{576F81F0-5A98-441B-28CC-2C194271B29E}"/>
              </a:ext>
            </a:extLst>
          </p:cNvPr>
          <p:cNvSpPr>
            <a:spLocks noGrp="1"/>
          </p:cNvSpPr>
          <p:nvPr/>
        </p:nvSpPr>
        <p:spPr>
          <a:xfrm>
            <a:off x="7562850" y="5953125"/>
            <a:ext cx="395287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9–10 October 2026</a:t>
            </a:r>
          </a:p>
          <a:p>
            <a:pPr>
              <a:defRPr sz="150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MBSTU, Bangladesh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78633EB-387F-01C8-72D5-1CEFE5AED4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678418" y="228497"/>
            <a:ext cx="1021352" cy="1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904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399" y="164504"/>
            <a:ext cx="790575" cy="709481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08267" y="164504"/>
            <a:ext cx="1482821" cy="604613"/>
          </a:xfrm>
          <a:prstGeom prst="rect">
            <a:avLst/>
          </a:prstGeom>
        </p:spPr>
      </p:pic>
      <p:sp>
        <p:nvSpPr>
          <p:cNvPr id="6" name="Presentation outline">
            <a:extLst>
              <a:ext uri="{FF2B5EF4-FFF2-40B4-BE49-F238E27FC236}">
                <a16:creationId xmlns:a16="http://schemas.microsoft.com/office/drawing/2014/main" id="{A5B029C4-4D0D-4FCE-A4FC-38AB3AC3F991}"/>
              </a:ext>
            </a:extLst>
          </p:cNvPr>
          <p:cNvSpPr>
            <a:spLocks noGrp="1"/>
          </p:cNvSpPr>
          <p:nvPr/>
        </p:nvSpPr>
        <p:spPr>
          <a:xfrm>
            <a:off x="647700" y="1181100"/>
            <a:ext cx="10810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00" b="1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Presentation </a:t>
            </a:r>
            <a:r>
              <a:rPr lang="en-US"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O</a:t>
            </a: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utline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0818E8B-31FC-4A6E-90AF-3395CC9FB307}"/>
              </a:ext>
            </a:extLst>
          </p:cNvPr>
          <p:cNvSpPr>
            <a:spLocks noGrp="1"/>
          </p:cNvSpPr>
          <p:nvPr/>
        </p:nvSpPr>
        <p:spPr>
          <a:xfrm>
            <a:off x="647700" y="1933575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sz="2400" dirty="0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C7B19126-FE68-4054-976E-5994B09C55CD}"/>
              </a:ext>
            </a:extLst>
          </p:cNvPr>
          <p:cNvSpPr>
            <a:spLocks noGrp="1"/>
          </p:cNvSpPr>
          <p:nvPr/>
        </p:nvSpPr>
        <p:spPr>
          <a:xfrm>
            <a:off x="647700" y="6238875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sz="2000" dirty="0"/>
          </a:p>
        </p:txBody>
      </p:sp>
      <p:sp>
        <p:nvSpPr>
          <p:cNvPr id="11" name="02">
            <a:extLst>
              <a:ext uri="{FF2B5EF4-FFF2-40B4-BE49-F238E27FC236}">
                <a16:creationId xmlns:a16="http://schemas.microsoft.com/office/drawing/2014/main" id="{FF903C05-AC3D-481E-B667-A4BCA773EB75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4191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2" name="01">
            <a:extLst>
              <a:ext uri="{FF2B5EF4-FFF2-40B4-BE49-F238E27FC236}">
                <a16:creationId xmlns:a16="http://schemas.microsoft.com/office/drawing/2014/main" id="{C3A7E6A0-ECFF-478D-B75E-BDC1721D4810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Introduction and research problem">
            <a:extLst>
              <a:ext uri="{FF2B5EF4-FFF2-40B4-BE49-F238E27FC236}">
                <a16:creationId xmlns:a16="http://schemas.microsoft.com/office/drawing/2014/main" id="{89E2A764-74F1-4106-B3FA-B428FCBBF191}"/>
              </a:ext>
            </a:extLst>
          </p:cNvPr>
          <p:cNvSpPr>
            <a:spLocks noGrp="1"/>
          </p:cNvSpPr>
          <p:nvPr/>
        </p:nvSpPr>
        <p:spPr>
          <a:xfrm>
            <a:off x="1428750" y="2076450"/>
            <a:ext cx="9525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5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Introduction and research problem</a:t>
            </a:r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30952A16-688F-4A85-8317-BE984A0380D9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5" name="Related work and research gap">
            <a:extLst>
              <a:ext uri="{FF2B5EF4-FFF2-40B4-BE49-F238E27FC236}">
                <a16:creationId xmlns:a16="http://schemas.microsoft.com/office/drawing/2014/main" id="{F95A9428-9A3D-4E4B-AB9D-0D5640340404}"/>
              </a:ext>
            </a:extLst>
          </p:cNvPr>
          <p:cNvSpPr>
            <a:spLocks noGrp="1"/>
          </p:cNvSpPr>
          <p:nvPr/>
        </p:nvSpPr>
        <p:spPr>
          <a:xfrm>
            <a:off x="1428750" y="2809875"/>
            <a:ext cx="9525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5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Related work and research gap</a:t>
            </a:r>
          </a:p>
        </p:txBody>
      </p:sp>
      <p:sp>
        <p:nvSpPr>
          <p:cNvPr id="16" name="03">
            <a:extLst>
              <a:ext uri="{FF2B5EF4-FFF2-40B4-BE49-F238E27FC236}">
                <a16:creationId xmlns:a16="http://schemas.microsoft.com/office/drawing/2014/main" id="{7CBDF035-FDA2-4033-AA3D-327C7A4883B4}"/>
              </a:ext>
            </a:extLst>
          </p:cNvPr>
          <p:cNvSpPr>
            <a:spLocks noGrp="1"/>
          </p:cNvSpPr>
          <p:nvPr/>
        </p:nvSpPr>
        <p:spPr>
          <a:xfrm>
            <a:off x="666750" y="3543300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7" name="Proposed solution and methodology">
            <a:extLst>
              <a:ext uri="{FF2B5EF4-FFF2-40B4-BE49-F238E27FC236}">
                <a16:creationId xmlns:a16="http://schemas.microsoft.com/office/drawing/2014/main" id="{85B4B574-DFD8-4293-9EF9-581564D21E1A}"/>
              </a:ext>
            </a:extLst>
          </p:cNvPr>
          <p:cNvSpPr>
            <a:spLocks noGrp="1"/>
          </p:cNvSpPr>
          <p:nvPr/>
        </p:nvSpPr>
        <p:spPr>
          <a:xfrm>
            <a:off x="1428750" y="3543300"/>
            <a:ext cx="9525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5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Proposed solution and methodology</a:t>
            </a:r>
          </a:p>
        </p:txBody>
      </p:sp>
      <p:sp>
        <p:nvSpPr>
          <p:cNvPr id="18" name="04">
            <a:extLst>
              <a:ext uri="{FF2B5EF4-FFF2-40B4-BE49-F238E27FC236}">
                <a16:creationId xmlns:a16="http://schemas.microsoft.com/office/drawing/2014/main" id="{B82C6331-5D6E-4EA0-9A12-EAA1B97ED2E2}"/>
              </a:ext>
            </a:extLst>
          </p:cNvPr>
          <p:cNvSpPr>
            <a:spLocks noGrp="1"/>
          </p:cNvSpPr>
          <p:nvPr/>
        </p:nvSpPr>
        <p:spPr>
          <a:xfrm>
            <a:off x="666750" y="4276725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9" name="Experiments and results">
            <a:extLst>
              <a:ext uri="{FF2B5EF4-FFF2-40B4-BE49-F238E27FC236}">
                <a16:creationId xmlns:a16="http://schemas.microsoft.com/office/drawing/2014/main" id="{6E3B01A1-770D-419B-8490-57AEE6D94920}"/>
              </a:ext>
            </a:extLst>
          </p:cNvPr>
          <p:cNvSpPr>
            <a:spLocks noGrp="1"/>
          </p:cNvSpPr>
          <p:nvPr/>
        </p:nvSpPr>
        <p:spPr>
          <a:xfrm>
            <a:off x="1428750" y="4276725"/>
            <a:ext cx="9525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5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Experiments and results</a:t>
            </a:r>
          </a:p>
        </p:txBody>
      </p:sp>
      <p:sp>
        <p:nvSpPr>
          <p:cNvPr id="20" name="05">
            <a:extLst>
              <a:ext uri="{FF2B5EF4-FFF2-40B4-BE49-F238E27FC236}">
                <a16:creationId xmlns:a16="http://schemas.microsoft.com/office/drawing/2014/main" id="{9A3A7759-96B0-4B7A-B1FB-C9ACEC6C55D9}"/>
              </a:ext>
            </a:extLst>
          </p:cNvPr>
          <p:cNvSpPr>
            <a:spLocks noGrp="1"/>
          </p:cNvSpPr>
          <p:nvPr/>
        </p:nvSpPr>
        <p:spPr>
          <a:xfrm>
            <a:off x="666750" y="5010150"/>
            <a:ext cx="523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1" name="Conclusion">
            <a:extLst>
              <a:ext uri="{FF2B5EF4-FFF2-40B4-BE49-F238E27FC236}">
                <a16:creationId xmlns:a16="http://schemas.microsoft.com/office/drawing/2014/main" id="{5AE01068-C1C0-463D-8C3E-8BED3BD25B0F}"/>
              </a:ext>
            </a:extLst>
          </p:cNvPr>
          <p:cNvSpPr>
            <a:spLocks noGrp="1"/>
          </p:cNvSpPr>
          <p:nvPr/>
        </p:nvSpPr>
        <p:spPr>
          <a:xfrm>
            <a:off x="1428750" y="5010150"/>
            <a:ext cx="9525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5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3" name="[Short paper title]">
            <a:extLst>
              <a:ext uri="{FF2B5EF4-FFF2-40B4-BE49-F238E27FC236}">
                <a16:creationId xmlns:a16="http://schemas.microsoft.com/office/drawing/2014/main" id="{F8C5EAB6-50F3-ABA8-B6D9-B37CD9B5ACC0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6429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/>
              <a:t>Terahertz Communication for 6G</a:t>
            </a:r>
          </a:p>
        </p:txBody>
      </p:sp>
      <p:sp>
        <p:nvSpPr>
          <p:cNvPr id="23" name="Paper ID: [000]">
            <a:extLst>
              <a:ext uri="{FF2B5EF4-FFF2-40B4-BE49-F238E27FC236}">
                <a16:creationId xmlns:a16="http://schemas.microsoft.com/office/drawing/2014/main" id="{B565E026-99C0-0E88-D1C0-30CE673D1F32}"/>
              </a:ext>
            </a:extLst>
          </p:cNvPr>
          <p:cNvSpPr>
            <a:spLocks noGrp="1"/>
          </p:cNvSpPr>
          <p:nvPr/>
        </p:nvSpPr>
        <p:spPr>
          <a:xfrm>
            <a:off x="8905875" y="6419850"/>
            <a:ext cx="2000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Paper ID: IT220</a:t>
            </a:r>
            <a:r>
              <a:rPr lang="en-US"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A46C350-84EE-1F32-2061-7596046CE4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125200" y="0"/>
            <a:ext cx="790575" cy="77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9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troduction and research problem">
            <a:extLst>
              <a:ext uri="{FF2B5EF4-FFF2-40B4-BE49-F238E27FC236}">
                <a16:creationId xmlns:a16="http://schemas.microsoft.com/office/drawing/2014/main" id="{1A8B73DC-7EE2-4FE1-A05D-4DF7CECAC541}"/>
              </a:ext>
            </a:extLst>
          </p:cNvPr>
          <p:cNvSpPr>
            <a:spLocks noGrp="1"/>
          </p:cNvSpPr>
          <p:nvPr/>
        </p:nvSpPr>
        <p:spPr>
          <a:xfrm>
            <a:off x="647700" y="1181100"/>
            <a:ext cx="10810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00" b="1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Introduction and </a:t>
            </a:r>
            <a:r>
              <a:rPr lang="en-US"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R</a:t>
            </a: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esearch </a:t>
            </a:r>
            <a:r>
              <a:rPr lang="en-US"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P</a:t>
            </a: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roblem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1ECF239-D48D-410B-A52F-DEB9E2BFC6A8}"/>
              </a:ext>
            </a:extLst>
          </p:cNvPr>
          <p:cNvSpPr>
            <a:spLocks noGrp="1"/>
          </p:cNvSpPr>
          <p:nvPr/>
        </p:nvSpPr>
        <p:spPr>
          <a:xfrm>
            <a:off x="647700" y="1933575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sz="2400" dirty="0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96F09B21-CE4B-4E33-A2C5-C86E8314DE8A}"/>
              </a:ext>
            </a:extLst>
          </p:cNvPr>
          <p:cNvSpPr>
            <a:spLocks noGrp="1"/>
          </p:cNvSpPr>
          <p:nvPr/>
        </p:nvSpPr>
        <p:spPr>
          <a:xfrm>
            <a:off x="647700" y="6238875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sz="2000" dirty="0"/>
          </a:p>
        </p:txBody>
      </p:sp>
      <p:sp>
        <p:nvSpPr>
          <p:cNvPr id="11" name="03">
            <a:extLst>
              <a:ext uri="{FF2B5EF4-FFF2-40B4-BE49-F238E27FC236}">
                <a16:creationId xmlns:a16="http://schemas.microsoft.com/office/drawing/2014/main" id="{F045F568-456A-46C8-B72A-070149591EA1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4191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[One sentence stating the problem]">
            <a:extLst>
              <a:ext uri="{FF2B5EF4-FFF2-40B4-BE49-F238E27FC236}">
                <a16:creationId xmlns:a16="http://schemas.microsoft.com/office/drawing/2014/main" id="{3BE9DD11-4623-4151-86F5-452711B5374C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10477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5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dirty="0"/>
              <a:t>THz links promise very high data rates, but usable range and reliability are limited by propagation loss and blockage.</a:t>
            </a:r>
          </a:p>
        </p:txBody>
      </p:sp>
      <p:sp>
        <p:nvSpPr>
          <p:cNvPr id="13" name="01">
            <a:extLst>
              <a:ext uri="{FF2B5EF4-FFF2-40B4-BE49-F238E27FC236}">
                <a16:creationId xmlns:a16="http://schemas.microsoft.com/office/drawing/2014/main" id="{2C117B3A-7C19-425E-8A1F-DFFD6C43A661}"/>
              </a:ext>
            </a:extLst>
          </p:cNvPr>
          <p:cNvSpPr>
            <a:spLocks noGrp="1"/>
          </p:cNvSpPr>
          <p:nvPr/>
        </p:nvSpPr>
        <p:spPr>
          <a:xfrm>
            <a:off x="666750" y="3257550"/>
            <a:ext cx="47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4" name="[Why this problem matters]">
            <a:extLst>
              <a:ext uri="{FF2B5EF4-FFF2-40B4-BE49-F238E27FC236}">
                <a16:creationId xmlns:a16="http://schemas.microsoft.com/office/drawing/2014/main" id="{6BBF654E-0489-4DD8-9ABB-80953457FDA6}"/>
              </a:ext>
            </a:extLst>
          </p:cNvPr>
          <p:cNvSpPr>
            <a:spLocks noGrp="1"/>
          </p:cNvSpPr>
          <p:nvPr/>
        </p:nvSpPr>
        <p:spPr>
          <a:xfrm>
            <a:off x="1371600" y="3257550"/>
            <a:ext cx="9867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2400" dirty="0"/>
              <a:t>6G applications may need extreme throughput for immersive media, rapid data delivery and wireless backhaul.</a:t>
            </a:r>
          </a:p>
        </p:txBody>
      </p:sp>
      <p:sp>
        <p:nvSpPr>
          <p:cNvPr id="15" name="02">
            <a:extLst>
              <a:ext uri="{FF2B5EF4-FFF2-40B4-BE49-F238E27FC236}">
                <a16:creationId xmlns:a16="http://schemas.microsoft.com/office/drawing/2014/main" id="{DCC6E290-5512-4ED7-9F8C-A5C8A0E4CA4E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47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6" name="[What current approaches leave unresolved]">
            <a:extLst>
              <a:ext uri="{FF2B5EF4-FFF2-40B4-BE49-F238E27FC236}">
                <a16:creationId xmlns:a16="http://schemas.microsoft.com/office/drawing/2014/main" id="{045FA6C5-696F-43E3-B9BB-1769B7FD4144}"/>
              </a:ext>
            </a:extLst>
          </p:cNvPr>
          <p:cNvSpPr>
            <a:spLocks noGrp="1"/>
          </p:cNvSpPr>
          <p:nvPr/>
        </p:nvSpPr>
        <p:spPr>
          <a:xfrm>
            <a:off x="1371600" y="4171950"/>
            <a:ext cx="9867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2400" dirty="0"/>
              <a:t>Wide bandwidth alone is insufficient: absorption, beam alignment, hardware limits and mobility affect real links.</a:t>
            </a:r>
          </a:p>
        </p:txBody>
      </p:sp>
      <p:sp>
        <p:nvSpPr>
          <p:cNvPr id="17" name="03">
            <a:extLst>
              <a:ext uri="{FF2B5EF4-FFF2-40B4-BE49-F238E27FC236}">
                <a16:creationId xmlns:a16="http://schemas.microsoft.com/office/drawing/2014/main" id="{A490AF51-4CB0-4BD7-8757-142E737F3E62}"/>
              </a:ext>
            </a:extLst>
          </p:cNvPr>
          <p:cNvSpPr>
            <a:spLocks noGrp="1"/>
          </p:cNvSpPr>
          <p:nvPr/>
        </p:nvSpPr>
        <p:spPr>
          <a:xfrm>
            <a:off x="666750" y="5086350"/>
            <a:ext cx="47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8" name="[Research question or objective]">
            <a:extLst>
              <a:ext uri="{FF2B5EF4-FFF2-40B4-BE49-F238E27FC236}">
                <a16:creationId xmlns:a16="http://schemas.microsoft.com/office/drawing/2014/main" id="{CF9BF64E-50AB-4650-9684-50B84FFC7E64}"/>
              </a:ext>
            </a:extLst>
          </p:cNvPr>
          <p:cNvSpPr>
            <a:spLocks noGrp="1"/>
          </p:cNvSpPr>
          <p:nvPr/>
        </p:nvSpPr>
        <p:spPr>
          <a:xfrm>
            <a:off x="1371600" y="5086350"/>
            <a:ext cx="9867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2400" dirty="0"/>
              <a:t>How can frequency selection, directional beamforming and propagation-aware design balance data rate, range and reliability?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399" y="164504"/>
            <a:ext cx="790575" cy="709481"/>
          </a:xfrm>
          <a:prstGeom prst="rect">
            <a:avLst/>
          </a:prstGeom>
        </p:spPr>
      </p:pic>
      <p:sp>
        <p:nvSpPr>
          <p:cNvPr id="3" name="[Short paper title]">
            <a:extLst>
              <a:ext uri="{FF2B5EF4-FFF2-40B4-BE49-F238E27FC236}">
                <a16:creationId xmlns:a16="http://schemas.microsoft.com/office/drawing/2014/main" id="{5BE52CD1-39EB-24A3-A3E7-3DB0924FE602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6429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/>
              <a:t>Terahertz Communication for 6G</a:t>
            </a:r>
          </a:p>
        </p:txBody>
      </p:sp>
      <p:sp>
        <p:nvSpPr>
          <p:cNvPr id="5" name="Paper ID: [000]">
            <a:extLst>
              <a:ext uri="{FF2B5EF4-FFF2-40B4-BE49-F238E27FC236}">
                <a16:creationId xmlns:a16="http://schemas.microsoft.com/office/drawing/2014/main" id="{1F607544-EA2B-E3C5-5339-BD4FE14CFD56}"/>
              </a:ext>
            </a:extLst>
          </p:cNvPr>
          <p:cNvSpPr>
            <a:spLocks noGrp="1"/>
          </p:cNvSpPr>
          <p:nvPr/>
        </p:nvSpPr>
        <p:spPr>
          <a:xfrm>
            <a:off x="8905875" y="6419850"/>
            <a:ext cx="2000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Paper ID: IT220</a:t>
            </a:r>
            <a:r>
              <a:rPr lang="en-US"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F37030A-8047-ABF4-512B-51AFB8445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08267" y="164504"/>
            <a:ext cx="1482821" cy="60461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DADC961-FE40-D8B3-22E4-AC4C8C5034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125200" y="0"/>
            <a:ext cx="790575" cy="77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465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lated work and research gap">
            <a:extLst>
              <a:ext uri="{FF2B5EF4-FFF2-40B4-BE49-F238E27FC236}">
                <a16:creationId xmlns:a16="http://schemas.microsoft.com/office/drawing/2014/main" id="{57D82E18-8D40-41E5-9CA4-A91C27DFE850}"/>
              </a:ext>
            </a:extLst>
          </p:cNvPr>
          <p:cNvSpPr>
            <a:spLocks noGrp="1"/>
          </p:cNvSpPr>
          <p:nvPr/>
        </p:nvSpPr>
        <p:spPr>
          <a:xfrm>
            <a:off x="647700" y="1181100"/>
            <a:ext cx="10810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00" b="1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Related </a:t>
            </a:r>
            <a:r>
              <a:rPr lang="en-US"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W</a:t>
            </a: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ork and </a:t>
            </a:r>
            <a:r>
              <a:rPr lang="en-US"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R</a:t>
            </a: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esearch </a:t>
            </a:r>
            <a:r>
              <a:rPr lang="en-US"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G</a:t>
            </a: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ap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F660B27-9A11-445F-9A8D-5581E907753D}"/>
              </a:ext>
            </a:extLst>
          </p:cNvPr>
          <p:cNvSpPr>
            <a:spLocks noGrp="1"/>
          </p:cNvSpPr>
          <p:nvPr/>
        </p:nvSpPr>
        <p:spPr>
          <a:xfrm>
            <a:off x="647700" y="1933575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sz="2400" dirty="0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F8F6BD15-7050-403B-99AD-AC4B36B67C68}"/>
              </a:ext>
            </a:extLst>
          </p:cNvPr>
          <p:cNvSpPr>
            <a:spLocks noGrp="1"/>
          </p:cNvSpPr>
          <p:nvPr/>
        </p:nvSpPr>
        <p:spPr>
          <a:xfrm>
            <a:off x="647700" y="6238875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sz="2000" dirty="0"/>
          </a:p>
        </p:txBody>
      </p:sp>
      <p:sp>
        <p:nvSpPr>
          <p:cNvPr id="11" name="04">
            <a:extLst>
              <a:ext uri="{FF2B5EF4-FFF2-40B4-BE49-F238E27FC236}">
                <a16:creationId xmlns:a16="http://schemas.microsoft.com/office/drawing/2014/main" id="{1B9397B8-4339-4F58-BA93-B67E2C53ABB3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4191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graphicFrame>
        <p:nvGraphicFramePr>
          <p:cNvPr id="26" name="Table 25"/>
          <p:cNvGraphicFramePr/>
          <p:nvPr>
            <p:extLst>
              <p:ext uri="{D42A27DB-BD31-4B8C-83A1-F6EECF244321}">
                <p14:modId xmlns:p14="http://schemas.microsoft.com/office/powerpoint/2010/main" val="145352540"/>
              </p:ext>
            </p:extLst>
          </p:nvPr>
        </p:nvGraphicFramePr>
        <p:xfrm>
          <a:off x="666750" y="2133600"/>
          <a:ext cx="10820400" cy="2793683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sz="2000" dirty="0"/>
                        <a:t>Study / approach</a:t>
                      </a:r>
                    </a:p>
                  </a:txBody>
                  <a:tcPr anchor="ctr">
                    <a:solidFill>
                      <a:srgbClr val="0067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Key idea</a:t>
                      </a:r>
                    </a:p>
                  </a:txBody>
                  <a:tcPr anchor="ctr">
                    <a:solidFill>
                      <a:srgbClr val="0067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Relevant limitation</a:t>
                      </a:r>
                    </a:p>
                  </a:txBody>
                  <a:tcPr anchor="ctr">
                    <a:solidFill>
                      <a:srgbClr val="0067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000" dirty="0"/>
                        <a:t>Akyildiz et al. (2014)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THz as a high-capacity wireless frontier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Early vision; technology has evolved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000" dirty="0"/>
                        <a:t>Jornet &amp; Akyildiz (2011)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THz channel modelling and absorption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Results depend on frequency and environment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000" dirty="0"/>
                        <a:t>Jiang et al. (2024)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Review of THz communications and sensing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Device, propagation and deployment challenges remain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esearch gap">
            <a:extLst>
              <a:ext uri="{FF2B5EF4-FFF2-40B4-BE49-F238E27FC236}">
                <a16:creationId xmlns:a16="http://schemas.microsoft.com/office/drawing/2014/main" id="{19AEF7C9-7086-4D65-9F07-D2AFEB82B08B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1905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Research gap</a:t>
            </a:r>
          </a:p>
        </p:txBody>
      </p:sp>
      <p:sp>
        <p:nvSpPr>
          <p:cNvPr id="14" name="[The specific gap addressed by this paper]">
            <a:extLst>
              <a:ext uri="{FF2B5EF4-FFF2-40B4-BE49-F238E27FC236}">
                <a16:creationId xmlns:a16="http://schemas.microsoft.com/office/drawing/2014/main" id="{FACED8AA-5854-4669-99E8-A5574941D3FB}"/>
              </a:ext>
            </a:extLst>
          </p:cNvPr>
          <p:cNvSpPr>
            <a:spLocks noGrp="1"/>
          </p:cNvSpPr>
          <p:nvPr/>
        </p:nvSpPr>
        <p:spPr>
          <a:xfrm>
            <a:off x="2809875" y="5219700"/>
            <a:ext cx="8286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0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dirty="0"/>
              <a:t>A practical design must jointly consider THz windows, path loss, blockage, beam alignment and achievable throughput—not bandwidth alone.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399" y="164504"/>
            <a:ext cx="790575" cy="709481"/>
          </a:xfrm>
          <a:prstGeom prst="rect">
            <a:avLst/>
          </a:prstGeom>
        </p:spPr>
      </p:pic>
      <p:sp>
        <p:nvSpPr>
          <p:cNvPr id="23" name="[Short paper title]">
            <a:extLst>
              <a:ext uri="{FF2B5EF4-FFF2-40B4-BE49-F238E27FC236}">
                <a16:creationId xmlns:a16="http://schemas.microsoft.com/office/drawing/2014/main" id="{8BCD0A1A-798E-19D1-64B2-D81C92A98E3E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6429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/>
              <a:t>Terahertz Communication for 6G</a:t>
            </a:r>
          </a:p>
        </p:txBody>
      </p:sp>
      <p:sp>
        <p:nvSpPr>
          <p:cNvPr id="25" name="Paper ID: [000]">
            <a:extLst>
              <a:ext uri="{FF2B5EF4-FFF2-40B4-BE49-F238E27FC236}">
                <a16:creationId xmlns:a16="http://schemas.microsoft.com/office/drawing/2014/main" id="{4C78FC08-CE6B-433E-57B8-FA92593202E8}"/>
              </a:ext>
            </a:extLst>
          </p:cNvPr>
          <p:cNvSpPr>
            <a:spLocks noGrp="1"/>
          </p:cNvSpPr>
          <p:nvPr/>
        </p:nvSpPr>
        <p:spPr>
          <a:xfrm>
            <a:off x="8905875" y="6419850"/>
            <a:ext cx="2000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Paper ID: IT220</a:t>
            </a:r>
            <a:r>
              <a:rPr lang="en-US"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D54E079-2470-1B7B-CBD9-883D30962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08267" y="164504"/>
            <a:ext cx="1482821" cy="60461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23B9EC5-BBC7-D9EC-3DB3-DEC83432F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125200" y="0"/>
            <a:ext cx="790575" cy="77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206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hodology">
            <a:extLst>
              <a:ext uri="{FF2B5EF4-FFF2-40B4-BE49-F238E27FC236}">
                <a16:creationId xmlns:a16="http://schemas.microsoft.com/office/drawing/2014/main" id="{D9838093-28A3-469A-86DC-8414AF07DBA1}"/>
              </a:ext>
            </a:extLst>
          </p:cNvPr>
          <p:cNvSpPr>
            <a:spLocks noGrp="1"/>
          </p:cNvSpPr>
          <p:nvPr/>
        </p:nvSpPr>
        <p:spPr>
          <a:xfrm>
            <a:off x="647700" y="1077864"/>
            <a:ext cx="10810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00" b="1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Methodology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48F71E3-A8E2-4E38-BFF6-15332CDF6BA0}"/>
              </a:ext>
            </a:extLst>
          </p:cNvPr>
          <p:cNvSpPr>
            <a:spLocks noGrp="1"/>
          </p:cNvSpPr>
          <p:nvPr/>
        </p:nvSpPr>
        <p:spPr>
          <a:xfrm>
            <a:off x="647700" y="1682851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sz="2400" dirty="0"/>
          </a:p>
        </p:txBody>
      </p:sp>
      <p:sp>
        <p:nvSpPr>
          <p:cNvPr id="11" name="06">
            <a:extLst>
              <a:ext uri="{FF2B5EF4-FFF2-40B4-BE49-F238E27FC236}">
                <a16:creationId xmlns:a16="http://schemas.microsoft.com/office/drawing/2014/main" id="{2474A4E2-CB09-484B-8805-66F181800E2B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4191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2" name="[Procedure used to construct or apply the solution]">
            <a:extLst>
              <a:ext uri="{FF2B5EF4-FFF2-40B4-BE49-F238E27FC236}">
                <a16:creationId xmlns:a16="http://schemas.microsoft.com/office/drawing/2014/main" id="{7B12E95D-227F-4405-A93A-6ADE78396FD2}"/>
              </a:ext>
            </a:extLst>
          </p:cNvPr>
          <p:cNvSpPr>
            <a:spLocks noGrp="1"/>
          </p:cNvSpPr>
          <p:nvPr/>
        </p:nvSpPr>
        <p:spPr>
          <a:xfrm>
            <a:off x="666750" y="1889437"/>
            <a:ext cx="107950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5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dirty="0"/>
              <a:t>Propagation-aware THz link assessment</a:t>
            </a:r>
          </a:p>
        </p:txBody>
      </p:sp>
      <p:sp>
        <p:nvSpPr>
          <p:cNvPr id="13" name="01">
            <a:extLst>
              <a:ext uri="{FF2B5EF4-FFF2-40B4-BE49-F238E27FC236}">
                <a16:creationId xmlns:a16="http://schemas.microsoft.com/office/drawing/2014/main" id="{26B7E323-2EB6-42CF-B7EB-7F9001519C42}"/>
              </a:ext>
            </a:extLst>
          </p:cNvPr>
          <p:cNvSpPr>
            <a:spLocks noGrp="1"/>
          </p:cNvSpPr>
          <p:nvPr/>
        </p:nvSpPr>
        <p:spPr>
          <a:xfrm>
            <a:off x="7275874" y="2461748"/>
            <a:ext cx="558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5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DE6D7F51-FBB2-4D66-B5D6-566DAFD16F12}"/>
              </a:ext>
            </a:extLst>
          </p:cNvPr>
          <p:cNvSpPr>
            <a:spLocks noGrp="1"/>
          </p:cNvSpPr>
          <p:nvPr/>
        </p:nvSpPr>
        <p:spPr>
          <a:xfrm>
            <a:off x="7275874" y="2406440"/>
            <a:ext cx="44450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5" name="[Step 1: preparation]">
            <a:extLst>
              <a:ext uri="{FF2B5EF4-FFF2-40B4-BE49-F238E27FC236}">
                <a16:creationId xmlns:a16="http://schemas.microsoft.com/office/drawing/2014/main" id="{41BF3C8D-06B4-4B02-8178-417CD73BB40A}"/>
              </a:ext>
            </a:extLst>
          </p:cNvPr>
          <p:cNvSpPr>
            <a:spLocks noGrp="1"/>
          </p:cNvSpPr>
          <p:nvPr/>
        </p:nvSpPr>
        <p:spPr>
          <a:xfrm>
            <a:off x="7910874" y="2461748"/>
            <a:ext cx="381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00" b="1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2000" dirty="0"/>
              <a:t>1. Define scenario</a:t>
            </a:r>
          </a:p>
        </p:txBody>
      </p:sp>
      <p:sp>
        <p:nvSpPr>
          <p:cNvPr id="16" name="[Input data, assumptions or initialisation]">
            <a:extLst>
              <a:ext uri="{FF2B5EF4-FFF2-40B4-BE49-F238E27FC236}">
                <a16:creationId xmlns:a16="http://schemas.microsoft.com/office/drawing/2014/main" id="{925B1ED1-A51C-4467-ACB7-3883A972703C}"/>
              </a:ext>
            </a:extLst>
          </p:cNvPr>
          <p:cNvSpPr>
            <a:spLocks noGrp="1"/>
          </p:cNvSpPr>
          <p:nvPr/>
        </p:nvSpPr>
        <p:spPr>
          <a:xfrm>
            <a:off x="7910874" y="2779248"/>
            <a:ext cx="3810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5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sz="1600" dirty="0"/>
              <a:t>Choose indoor hotspot or short-range backhaul; set frequency, distance and environment.</a:t>
            </a:r>
          </a:p>
        </p:txBody>
      </p:sp>
      <p:sp>
        <p:nvSpPr>
          <p:cNvPr id="17" name="02">
            <a:extLst>
              <a:ext uri="{FF2B5EF4-FFF2-40B4-BE49-F238E27FC236}">
                <a16:creationId xmlns:a16="http://schemas.microsoft.com/office/drawing/2014/main" id="{5834C0C6-D8A3-4651-B196-AA924687C123}"/>
              </a:ext>
            </a:extLst>
          </p:cNvPr>
          <p:cNvSpPr>
            <a:spLocks noGrp="1"/>
          </p:cNvSpPr>
          <p:nvPr/>
        </p:nvSpPr>
        <p:spPr>
          <a:xfrm>
            <a:off x="7275874" y="3576888"/>
            <a:ext cx="558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5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26E3A72E-1EB8-419C-8A17-0F445E31212B}"/>
              </a:ext>
            </a:extLst>
          </p:cNvPr>
          <p:cNvSpPr>
            <a:spLocks noGrp="1"/>
          </p:cNvSpPr>
          <p:nvPr/>
        </p:nvSpPr>
        <p:spPr>
          <a:xfrm>
            <a:off x="7275874" y="3506832"/>
            <a:ext cx="44450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9" name="[Step 2: core procedure]">
            <a:extLst>
              <a:ext uri="{FF2B5EF4-FFF2-40B4-BE49-F238E27FC236}">
                <a16:creationId xmlns:a16="http://schemas.microsoft.com/office/drawing/2014/main" id="{3C7764C0-E006-4040-9BBB-61331DA71D72}"/>
              </a:ext>
            </a:extLst>
          </p:cNvPr>
          <p:cNvSpPr>
            <a:spLocks noGrp="1"/>
          </p:cNvSpPr>
          <p:nvPr/>
        </p:nvSpPr>
        <p:spPr>
          <a:xfrm>
            <a:off x="7910874" y="3576888"/>
            <a:ext cx="381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00" b="1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2000" dirty="0"/>
              <a:t>2. Model the channel</a:t>
            </a:r>
          </a:p>
        </p:txBody>
      </p:sp>
      <p:sp>
        <p:nvSpPr>
          <p:cNvPr id="20" name="[Training, algorithm steps or implementation]">
            <a:extLst>
              <a:ext uri="{FF2B5EF4-FFF2-40B4-BE49-F238E27FC236}">
                <a16:creationId xmlns:a16="http://schemas.microsoft.com/office/drawing/2014/main" id="{AB1575D5-6F24-49E1-8AB9-C7C3B09B0EE5}"/>
              </a:ext>
            </a:extLst>
          </p:cNvPr>
          <p:cNvSpPr>
            <a:spLocks noGrp="1"/>
          </p:cNvSpPr>
          <p:nvPr/>
        </p:nvSpPr>
        <p:spPr>
          <a:xfrm>
            <a:off x="7910874" y="3894388"/>
            <a:ext cx="3810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5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sz="1600" dirty="0"/>
              <a:t>Estimate path loss and atmospheric absorption; include blockage, reflections and antenna gain.</a:t>
            </a:r>
          </a:p>
        </p:txBody>
      </p:sp>
      <p:sp>
        <p:nvSpPr>
          <p:cNvPr id="21" name="03">
            <a:extLst>
              <a:ext uri="{FF2B5EF4-FFF2-40B4-BE49-F238E27FC236}">
                <a16:creationId xmlns:a16="http://schemas.microsoft.com/office/drawing/2014/main" id="{F0FE2704-BDCD-4351-BAA3-1301FD0D9C91}"/>
              </a:ext>
            </a:extLst>
          </p:cNvPr>
          <p:cNvSpPr>
            <a:spLocks noGrp="1"/>
          </p:cNvSpPr>
          <p:nvPr/>
        </p:nvSpPr>
        <p:spPr>
          <a:xfrm>
            <a:off x="7275874" y="4810012"/>
            <a:ext cx="558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5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E037492B-6A52-422D-B7E6-4295A6AFB914}"/>
              </a:ext>
            </a:extLst>
          </p:cNvPr>
          <p:cNvSpPr>
            <a:spLocks noGrp="1"/>
          </p:cNvSpPr>
          <p:nvPr/>
        </p:nvSpPr>
        <p:spPr>
          <a:xfrm>
            <a:off x="7275874" y="4739956"/>
            <a:ext cx="44450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23" name="[Step 3: output]">
            <a:extLst>
              <a:ext uri="{FF2B5EF4-FFF2-40B4-BE49-F238E27FC236}">
                <a16:creationId xmlns:a16="http://schemas.microsoft.com/office/drawing/2014/main" id="{CD2F09ED-C248-4EB8-92B3-9BD6961D29D1}"/>
              </a:ext>
            </a:extLst>
          </p:cNvPr>
          <p:cNvSpPr>
            <a:spLocks noGrp="1"/>
          </p:cNvSpPr>
          <p:nvPr/>
        </p:nvSpPr>
        <p:spPr>
          <a:xfrm>
            <a:off x="7910874" y="4810012"/>
            <a:ext cx="381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00" b="1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2000" dirty="0"/>
              <a:t>3. Evaluate trade-offs</a:t>
            </a:r>
          </a:p>
        </p:txBody>
      </p:sp>
      <p:sp>
        <p:nvSpPr>
          <p:cNvPr id="24" name="[Output generation or analysis procedure]">
            <a:extLst>
              <a:ext uri="{FF2B5EF4-FFF2-40B4-BE49-F238E27FC236}">
                <a16:creationId xmlns:a16="http://schemas.microsoft.com/office/drawing/2014/main" id="{7B439D79-B3DF-43A1-AA31-AF736AED03AE}"/>
              </a:ext>
            </a:extLst>
          </p:cNvPr>
          <p:cNvSpPr>
            <a:spLocks noGrp="1"/>
          </p:cNvSpPr>
          <p:nvPr/>
        </p:nvSpPr>
        <p:spPr>
          <a:xfrm>
            <a:off x="7910874" y="5127512"/>
            <a:ext cx="3810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5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dirty="0"/>
              <a:t>Compare rate, received power, coverage and robustness across frequency, distance and beamforming.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399" y="164504"/>
            <a:ext cx="790575" cy="709481"/>
          </a:xfrm>
          <a:prstGeom prst="rect">
            <a:avLst/>
          </a:prstGeom>
        </p:spPr>
      </p:pic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8B888927-DE96-54A8-32C3-E5FEC612A15C}"/>
              </a:ext>
            </a:extLst>
          </p:cNvPr>
          <p:cNvSpPr>
            <a:spLocks noGrp="1"/>
          </p:cNvSpPr>
          <p:nvPr/>
        </p:nvSpPr>
        <p:spPr>
          <a:xfrm>
            <a:off x="7295542" y="5924738"/>
            <a:ext cx="44450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4D5E80D-EFD3-6A7A-D502-D2DE38CFE7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16" y="2385124"/>
            <a:ext cx="6889958" cy="3408520"/>
          </a:xfrm>
          <a:prstGeom prst="rect">
            <a:avLst/>
          </a:prstGeom>
        </p:spPr>
      </p:pic>
      <p:sp>
        <p:nvSpPr>
          <p:cNvPr id="39" name="[Short paper title]">
            <a:extLst>
              <a:ext uri="{FF2B5EF4-FFF2-40B4-BE49-F238E27FC236}">
                <a16:creationId xmlns:a16="http://schemas.microsoft.com/office/drawing/2014/main" id="{607DF26A-561F-4BAE-EA94-64C506AC332B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6429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/>
              <a:t>Terahertz Communication for 6G</a:t>
            </a:r>
          </a:p>
        </p:txBody>
      </p:sp>
      <p:sp>
        <p:nvSpPr>
          <p:cNvPr id="41" name="Paper ID: [000]">
            <a:extLst>
              <a:ext uri="{FF2B5EF4-FFF2-40B4-BE49-F238E27FC236}">
                <a16:creationId xmlns:a16="http://schemas.microsoft.com/office/drawing/2014/main" id="{66E3DCF6-F27E-511D-5782-2D1837E038D7}"/>
              </a:ext>
            </a:extLst>
          </p:cNvPr>
          <p:cNvSpPr>
            <a:spLocks noGrp="1"/>
          </p:cNvSpPr>
          <p:nvPr/>
        </p:nvSpPr>
        <p:spPr>
          <a:xfrm>
            <a:off x="8905875" y="6419850"/>
            <a:ext cx="2000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Paper ID: IT220</a:t>
            </a:r>
            <a:r>
              <a:rPr lang="en-US"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FE81F41-6B2A-1207-C96F-6ADC63A6EE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508267" y="164504"/>
            <a:ext cx="1482821" cy="60461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5D1ED53-ADA5-4E0E-2BBC-71242DF58D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1125200" y="0"/>
            <a:ext cx="790575" cy="77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839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xperimental setup">
            <a:extLst>
              <a:ext uri="{FF2B5EF4-FFF2-40B4-BE49-F238E27FC236}">
                <a16:creationId xmlns:a16="http://schemas.microsoft.com/office/drawing/2014/main" id="{4C4522FD-BC14-4E62-8DC7-E0B7E34ABF36}"/>
              </a:ext>
            </a:extLst>
          </p:cNvPr>
          <p:cNvSpPr>
            <a:spLocks noGrp="1"/>
          </p:cNvSpPr>
          <p:nvPr/>
        </p:nvSpPr>
        <p:spPr>
          <a:xfrm>
            <a:off x="647700" y="1181100"/>
            <a:ext cx="10810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00" b="1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Experimental </a:t>
            </a:r>
            <a:r>
              <a:rPr lang="en-US"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S</a:t>
            </a: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etup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67647916-6C43-48E0-82AA-947880EB8D46}"/>
              </a:ext>
            </a:extLst>
          </p:cNvPr>
          <p:cNvSpPr>
            <a:spLocks noGrp="1"/>
          </p:cNvSpPr>
          <p:nvPr/>
        </p:nvSpPr>
        <p:spPr>
          <a:xfrm>
            <a:off x="647700" y="1933575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sz="2400" dirty="0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8EC3A778-E9F6-4FD3-8B2C-85DCDC53AA02}"/>
              </a:ext>
            </a:extLst>
          </p:cNvPr>
          <p:cNvSpPr>
            <a:spLocks noGrp="1"/>
          </p:cNvSpPr>
          <p:nvPr/>
        </p:nvSpPr>
        <p:spPr>
          <a:xfrm>
            <a:off x="647700" y="6238875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sz="2000" dirty="0"/>
          </a:p>
        </p:txBody>
      </p:sp>
      <p:sp>
        <p:nvSpPr>
          <p:cNvPr id="11" name="07">
            <a:extLst>
              <a:ext uri="{FF2B5EF4-FFF2-40B4-BE49-F238E27FC236}">
                <a16:creationId xmlns:a16="http://schemas.microsoft.com/office/drawing/2014/main" id="{67CFE318-73F6-40BF-A9D4-6AD33D152AE2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4191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12" name="Data / study setting">
            <a:extLst>
              <a:ext uri="{FF2B5EF4-FFF2-40B4-BE49-F238E27FC236}">
                <a16:creationId xmlns:a16="http://schemas.microsoft.com/office/drawing/2014/main" id="{B761308C-DF9C-49F9-BB9E-6A110E82B60A}"/>
              </a:ext>
            </a:extLst>
          </p:cNvPr>
          <p:cNvSpPr>
            <a:spLocks noGrp="1"/>
          </p:cNvSpPr>
          <p:nvPr/>
        </p:nvSpPr>
        <p:spPr>
          <a:xfrm>
            <a:off x="666750" y="2152650"/>
            <a:ext cx="34766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Data / study setting</a:t>
            </a:r>
          </a:p>
        </p:txBody>
      </p:sp>
      <p:sp>
        <p:nvSpPr>
          <p:cNvPr id="13" name="[Dataset, sample size and split]">
            <a:extLst>
              <a:ext uri="{FF2B5EF4-FFF2-40B4-BE49-F238E27FC236}">
                <a16:creationId xmlns:a16="http://schemas.microsoft.com/office/drawing/2014/main" id="{E3BFCD95-6147-4B93-815A-44C543AD8FD2}"/>
              </a:ext>
            </a:extLst>
          </p:cNvPr>
          <p:cNvSpPr>
            <a:spLocks noGrp="1"/>
          </p:cNvSpPr>
          <p:nvPr/>
        </p:nvSpPr>
        <p:spPr>
          <a:xfrm>
            <a:off x="4476750" y="2152650"/>
            <a:ext cx="69532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dirty="0"/>
              <a:t>Scenario-based study: define carrier frequency (e.g., 0.1–1 THz), distance, humidity, obstacles and antenna parameters. No measured dataset is assumed.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D61A1FD-5907-4284-87A9-31CC6C557445}"/>
              </a:ext>
            </a:extLst>
          </p:cNvPr>
          <p:cNvSpPr>
            <a:spLocks noGrp="1"/>
          </p:cNvSpPr>
          <p:nvPr/>
        </p:nvSpPr>
        <p:spPr>
          <a:xfrm>
            <a:off x="666750" y="2984088"/>
            <a:ext cx="108204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sz="2400" dirty="0"/>
          </a:p>
        </p:txBody>
      </p:sp>
      <p:sp>
        <p:nvSpPr>
          <p:cNvPr id="15" name="Baselines / comparisons">
            <a:extLst>
              <a:ext uri="{FF2B5EF4-FFF2-40B4-BE49-F238E27FC236}">
                <a16:creationId xmlns:a16="http://schemas.microsoft.com/office/drawing/2014/main" id="{1870270F-AF35-4C90-9A93-250EBF19BDA4}"/>
              </a:ext>
            </a:extLst>
          </p:cNvPr>
          <p:cNvSpPr>
            <a:spLocks noGrp="1"/>
          </p:cNvSpPr>
          <p:nvPr/>
        </p:nvSpPr>
        <p:spPr>
          <a:xfrm>
            <a:off x="666750" y="3057525"/>
            <a:ext cx="34766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Baselines / comparisons</a:t>
            </a:r>
          </a:p>
        </p:txBody>
      </p:sp>
      <p:sp>
        <p:nvSpPr>
          <p:cNvPr id="16" name="[Methods and fair comparison settings]">
            <a:extLst>
              <a:ext uri="{FF2B5EF4-FFF2-40B4-BE49-F238E27FC236}">
                <a16:creationId xmlns:a16="http://schemas.microsoft.com/office/drawing/2014/main" id="{35D048CF-BCD8-4BFF-9450-EA4AC3DBBE62}"/>
              </a:ext>
            </a:extLst>
          </p:cNvPr>
          <p:cNvSpPr>
            <a:spLocks noGrp="1"/>
          </p:cNvSpPr>
          <p:nvPr/>
        </p:nvSpPr>
        <p:spPr>
          <a:xfrm>
            <a:off x="4476750" y="3057525"/>
            <a:ext cx="69532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dirty="0"/>
              <a:t>Compare a lower-frequency baseline, THz without beamforming, and THz with directional gain under matched assumptions.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E4AEC791-3789-4E4D-963F-6C61A46959A1}"/>
              </a:ext>
            </a:extLst>
          </p:cNvPr>
          <p:cNvSpPr>
            <a:spLocks noGrp="1"/>
          </p:cNvSpPr>
          <p:nvPr/>
        </p:nvSpPr>
        <p:spPr>
          <a:xfrm>
            <a:off x="666750" y="3800475"/>
            <a:ext cx="108204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sz="2400" dirty="0"/>
          </a:p>
        </p:txBody>
      </p:sp>
      <p:sp>
        <p:nvSpPr>
          <p:cNvPr id="18" name="Evaluation metrics">
            <a:extLst>
              <a:ext uri="{FF2B5EF4-FFF2-40B4-BE49-F238E27FC236}">
                <a16:creationId xmlns:a16="http://schemas.microsoft.com/office/drawing/2014/main" id="{CEAFF3CC-53FC-4852-A42E-B8968A87C3EC}"/>
              </a:ext>
            </a:extLst>
          </p:cNvPr>
          <p:cNvSpPr>
            <a:spLocks noGrp="1"/>
          </p:cNvSpPr>
          <p:nvPr/>
        </p:nvSpPr>
        <p:spPr>
          <a:xfrm>
            <a:off x="666750" y="3962400"/>
            <a:ext cx="34766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Evaluation metrics</a:t>
            </a:r>
          </a:p>
        </p:txBody>
      </p:sp>
      <p:sp>
        <p:nvSpPr>
          <p:cNvPr id="19" name="[Metric definitions and units]">
            <a:extLst>
              <a:ext uri="{FF2B5EF4-FFF2-40B4-BE49-F238E27FC236}">
                <a16:creationId xmlns:a16="http://schemas.microsoft.com/office/drawing/2014/main" id="{0C74C494-5D7E-4983-AF8E-F44F5B1FDD16}"/>
              </a:ext>
            </a:extLst>
          </p:cNvPr>
          <p:cNvSpPr>
            <a:spLocks noGrp="1"/>
          </p:cNvSpPr>
          <p:nvPr/>
        </p:nvSpPr>
        <p:spPr>
          <a:xfrm>
            <a:off x="4476750" y="3962400"/>
            <a:ext cx="69532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dirty="0"/>
              <a:t>Path loss (dB), received power (dBm), achievable rate (Gb/s), coverage distance (m), and outage probability (%).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FC9C8A3-9747-46B1-9E4B-1B9316126DD0}"/>
              </a:ext>
            </a:extLst>
          </p:cNvPr>
          <p:cNvSpPr>
            <a:spLocks noGrp="1"/>
          </p:cNvSpPr>
          <p:nvPr/>
        </p:nvSpPr>
        <p:spPr>
          <a:xfrm>
            <a:off x="666750" y="4705350"/>
            <a:ext cx="108204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sz="2400" dirty="0"/>
          </a:p>
        </p:txBody>
      </p:sp>
      <p:sp>
        <p:nvSpPr>
          <p:cNvPr id="21" name="Implementation / protocol">
            <a:extLst>
              <a:ext uri="{FF2B5EF4-FFF2-40B4-BE49-F238E27FC236}">
                <a16:creationId xmlns:a16="http://schemas.microsoft.com/office/drawing/2014/main" id="{EC173211-A1A8-40A4-BE28-7080284B0476}"/>
              </a:ext>
            </a:extLst>
          </p:cNvPr>
          <p:cNvSpPr>
            <a:spLocks noGrp="1"/>
          </p:cNvSpPr>
          <p:nvPr/>
        </p:nvSpPr>
        <p:spPr>
          <a:xfrm>
            <a:off x="666750" y="4867275"/>
            <a:ext cx="34766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Implementation / protocol</a:t>
            </a:r>
          </a:p>
        </p:txBody>
      </p:sp>
      <p:sp>
        <p:nvSpPr>
          <p:cNvPr id="22" name="[Hardware, seeds or study procedure]">
            <a:extLst>
              <a:ext uri="{FF2B5EF4-FFF2-40B4-BE49-F238E27FC236}">
                <a16:creationId xmlns:a16="http://schemas.microsoft.com/office/drawing/2014/main" id="{89823C04-B5AA-4A1B-AC4F-4CAAE38F54AA}"/>
              </a:ext>
            </a:extLst>
          </p:cNvPr>
          <p:cNvSpPr>
            <a:spLocks noGrp="1"/>
          </p:cNvSpPr>
          <p:nvPr/>
        </p:nvSpPr>
        <p:spPr>
          <a:xfrm>
            <a:off x="4476750" y="4867275"/>
            <a:ext cx="69532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dirty="0"/>
              <a:t>Use a documented analytical or simulation model. Report bandwidth, antenna gains, frequency window and environment; validate against published measurements where possible.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399" y="164504"/>
            <a:ext cx="790575" cy="709481"/>
          </a:xfrm>
          <a:prstGeom prst="rect">
            <a:avLst/>
          </a:prstGeom>
        </p:spPr>
      </p:pic>
      <p:sp>
        <p:nvSpPr>
          <p:cNvPr id="3" name="[Short paper title]">
            <a:extLst>
              <a:ext uri="{FF2B5EF4-FFF2-40B4-BE49-F238E27FC236}">
                <a16:creationId xmlns:a16="http://schemas.microsoft.com/office/drawing/2014/main" id="{BA6B770D-B7C6-DEBA-A1BC-A18D6D449A9A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6429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/>
              <a:t>Terahertz Communication for 6G</a:t>
            </a:r>
          </a:p>
        </p:txBody>
      </p:sp>
      <p:sp>
        <p:nvSpPr>
          <p:cNvPr id="5" name="Paper ID: [000]">
            <a:extLst>
              <a:ext uri="{FF2B5EF4-FFF2-40B4-BE49-F238E27FC236}">
                <a16:creationId xmlns:a16="http://schemas.microsoft.com/office/drawing/2014/main" id="{B6ED8779-33DF-F31B-0745-F89F4175FB7C}"/>
              </a:ext>
            </a:extLst>
          </p:cNvPr>
          <p:cNvSpPr>
            <a:spLocks noGrp="1"/>
          </p:cNvSpPr>
          <p:nvPr/>
        </p:nvSpPr>
        <p:spPr>
          <a:xfrm>
            <a:off x="8905875" y="6419850"/>
            <a:ext cx="2000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Paper ID: IT220</a:t>
            </a:r>
            <a:r>
              <a:rPr lang="en-US"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D0E8EC9-7B3E-B541-99DF-6EE5E2CA8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08267" y="164504"/>
            <a:ext cx="1482821" cy="60461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B953C4D-3B27-B4B9-A732-3E642E609B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125200" y="0"/>
            <a:ext cx="790575" cy="77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074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sults and discussion">
            <a:extLst>
              <a:ext uri="{FF2B5EF4-FFF2-40B4-BE49-F238E27FC236}">
                <a16:creationId xmlns:a16="http://schemas.microsoft.com/office/drawing/2014/main" id="{CF3C6489-8B24-4858-9567-DFF21F75D075}"/>
              </a:ext>
            </a:extLst>
          </p:cNvPr>
          <p:cNvSpPr>
            <a:spLocks noGrp="1"/>
          </p:cNvSpPr>
          <p:nvPr/>
        </p:nvSpPr>
        <p:spPr>
          <a:xfrm>
            <a:off x="647700" y="1181100"/>
            <a:ext cx="10810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00" b="1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Results and </a:t>
            </a:r>
            <a:r>
              <a:rPr lang="en-US"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D</a:t>
            </a: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iscussion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D3946742-9F7A-4DC6-B9F2-F6827ECDF620}"/>
              </a:ext>
            </a:extLst>
          </p:cNvPr>
          <p:cNvSpPr>
            <a:spLocks noGrp="1"/>
          </p:cNvSpPr>
          <p:nvPr/>
        </p:nvSpPr>
        <p:spPr>
          <a:xfrm>
            <a:off x="647700" y="1933575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sz="2400" dirty="0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22B758E-FAC3-4A35-8DFA-B036F7E2A601}"/>
              </a:ext>
            </a:extLst>
          </p:cNvPr>
          <p:cNvSpPr>
            <a:spLocks noGrp="1"/>
          </p:cNvSpPr>
          <p:nvPr/>
        </p:nvSpPr>
        <p:spPr>
          <a:xfrm>
            <a:off x="647700" y="6238875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sz="2400" dirty="0"/>
          </a:p>
        </p:txBody>
      </p:sp>
      <p:sp>
        <p:nvSpPr>
          <p:cNvPr id="11" name="08">
            <a:extLst>
              <a:ext uri="{FF2B5EF4-FFF2-40B4-BE49-F238E27FC236}">
                <a16:creationId xmlns:a16="http://schemas.microsoft.com/office/drawing/2014/main" id="{EE95AF9A-54C3-421D-B2EC-B9BB22699105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4191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13" name="[Insert your main results chart or figure]">
            <a:extLst>
              <a:ext uri="{FF2B5EF4-FFF2-40B4-BE49-F238E27FC236}">
                <a16:creationId xmlns:a16="http://schemas.microsoft.com/office/drawing/2014/main" id="{027A1C2E-1CEC-49D0-9AB3-F86C2B16AD3D}"/>
              </a:ext>
            </a:extLst>
          </p:cNvPr>
          <p:cNvSpPr>
            <a:spLocks noGrp="1"/>
          </p:cNvSpPr>
          <p:nvPr/>
        </p:nvSpPr>
        <p:spPr>
          <a:xfrm>
            <a:off x="904875" y="3362325"/>
            <a:ext cx="70485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5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endParaRPr dirty="0"/>
          </a:p>
        </p:txBody>
      </p:sp>
      <p:sp>
        <p:nvSpPr>
          <p:cNvPr id="14" name="Main finding">
            <a:extLst>
              <a:ext uri="{FF2B5EF4-FFF2-40B4-BE49-F238E27FC236}">
                <a16:creationId xmlns:a16="http://schemas.microsoft.com/office/drawing/2014/main" id="{1C2ED54F-162D-4E9B-9933-F350C957EB0F}"/>
              </a:ext>
            </a:extLst>
          </p:cNvPr>
          <p:cNvSpPr>
            <a:spLocks noGrp="1"/>
          </p:cNvSpPr>
          <p:nvPr/>
        </p:nvSpPr>
        <p:spPr>
          <a:xfrm>
            <a:off x="8436078" y="2143125"/>
            <a:ext cx="3041547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5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dirty="0"/>
              <a:t>Main finding</a:t>
            </a:r>
          </a:p>
        </p:txBody>
      </p:sp>
      <p:sp>
        <p:nvSpPr>
          <p:cNvPr id="15" name="[State the result]&#10;&#10;[Explain what it means]">
            <a:extLst>
              <a:ext uri="{FF2B5EF4-FFF2-40B4-BE49-F238E27FC236}">
                <a16:creationId xmlns:a16="http://schemas.microsoft.com/office/drawing/2014/main" id="{3D1F8ADC-5BC0-41B3-AAB2-89296A8C39DF}"/>
              </a:ext>
            </a:extLst>
          </p:cNvPr>
          <p:cNvSpPr>
            <a:spLocks noGrp="1"/>
          </p:cNvSpPr>
          <p:nvPr/>
        </p:nvSpPr>
        <p:spPr>
          <a:xfrm>
            <a:off x="8436078" y="2743200"/>
            <a:ext cx="3041548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dirty="0"/>
              <a:t>Wide bandwidth and high-gain directional antennas can enable very high data rates.</a:t>
            </a:r>
            <a:br>
              <a:rPr dirty="0"/>
            </a:br>
            <a:br>
              <a:rPr dirty="0"/>
            </a:br>
            <a:r>
              <a:rPr dirty="0"/>
              <a:t>But path loss, molecular absorption and blockage reduce range and reliability. THz is most promising for suitable short-range or line-of-sight links, alongside lower-frequency coverage.</a:t>
            </a:r>
          </a:p>
        </p:txBody>
      </p:sp>
      <p:sp>
        <p:nvSpPr>
          <p:cNvPr id="16" name="[Figure caption, metric definitions and units]">
            <a:extLst>
              <a:ext uri="{FF2B5EF4-FFF2-40B4-BE49-F238E27FC236}">
                <a16:creationId xmlns:a16="http://schemas.microsoft.com/office/drawing/2014/main" id="{7C7D47A8-2A68-4F13-B4DA-D57A14234682}"/>
              </a:ext>
            </a:extLst>
          </p:cNvPr>
          <p:cNvSpPr>
            <a:spLocks noGrp="1"/>
          </p:cNvSpPr>
          <p:nvPr/>
        </p:nvSpPr>
        <p:spPr>
          <a:xfrm>
            <a:off x="666750" y="5610225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5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dirty="0"/>
              <a:t>Literature-derived conceptual summary;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399" y="164504"/>
            <a:ext cx="790575" cy="7094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22D10B-2978-5F9E-E104-AAC41B9E0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488323"/>
            <a:ext cx="7352993" cy="2317188"/>
          </a:xfrm>
          <a:prstGeom prst="rect">
            <a:avLst/>
          </a:prstGeom>
        </p:spPr>
      </p:pic>
      <p:sp>
        <p:nvSpPr>
          <p:cNvPr id="5" name="[Short paper title]">
            <a:extLst>
              <a:ext uri="{FF2B5EF4-FFF2-40B4-BE49-F238E27FC236}">
                <a16:creationId xmlns:a16="http://schemas.microsoft.com/office/drawing/2014/main" id="{ADB16D31-15A1-CF83-577B-7944165E7A59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6429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/>
              <a:t>Terahertz Communication for 6G</a:t>
            </a:r>
          </a:p>
        </p:txBody>
      </p:sp>
      <p:sp>
        <p:nvSpPr>
          <p:cNvPr id="20" name="Paper ID: [000]">
            <a:extLst>
              <a:ext uri="{FF2B5EF4-FFF2-40B4-BE49-F238E27FC236}">
                <a16:creationId xmlns:a16="http://schemas.microsoft.com/office/drawing/2014/main" id="{F49898F7-D0F7-A22F-045E-7CEFB7DA64B9}"/>
              </a:ext>
            </a:extLst>
          </p:cNvPr>
          <p:cNvSpPr>
            <a:spLocks noGrp="1"/>
          </p:cNvSpPr>
          <p:nvPr/>
        </p:nvSpPr>
        <p:spPr>
          <a:xfrm>
            <a:off x="8905875" y="6419850"/>
            <a:ext cx="2000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Paper ID: IT220</a:t>
            </a:r>
            <a:r>
              <a:rPr lang="en-US"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EC5A1F2-C08F-9BA4-0378-B45C4311A6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508267" y="164504"/>
            <a:ext cx="1482821" cy="60461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7C50B86-09EB-2B5E-B481-D64FA5C73C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1125200" y="0"/>
            <a:ext cx="790575" cy="77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31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Quantitative comparison">
            <a:extLst>
              <a:ext uri="{FF2B5EF4-FFF2-40B4-BE49-F238E27FC236}">
                <a16:creationId xmlns:a16="http://schemas.microsoft.com/office/drawing/2014/main" id="{7EC6AECF-D721-4012-8CA6-E273CE77D30C}"/>
              </a:ext>
            </a:extLst>
          </p:cNvPr>
          <p:cNvSpPr>
            <a:spLocks noGrp="1"/>
          </p:cNvSpPr>
          <p:nvPr/>
        </p:nvSpPr>
        <p:spPr>
          <a:xfrm>
            <a:off x="647700" y="1181100"/>
            <a:ext cx="10810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00" b="1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Quantitative </a:t>
            </a:r>
            <a:r>
              <a:rPr lang="en-US"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C</a:t>
            </a: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omparison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DB851D2-8538-4741-A702-786141D94188}"/>
              </a:ext>
            </a:extLst>
          </p:cNvPr>
          <p:cNvSpPr>
            <a:spLocks noGrp="1"/>
          </p:cNvSpPr>
          <p:nvPr/>
        </p:nvSpPr>
        <p:spPr>
          <a:xfrm>
            <a:off x="647700" y="1933575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sz="2400" dirty="0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92C7A7BA-39E4-49C0-911F-5B98D5B2FDC9}"/>
              </a:ext>
            </a:extLst>
          </p:cNvPr>
          <p:cNvSpPr>
            <a:spLocks noGrp="1"/>
          </p:cNvSpPr>
          <p:nvPr/>
        </p:nvSpPr>
        <p:spPr>
          <a:xfrm>
            <a:off x="647700" y="6238875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sz="2000" dirty="0"/>
          </a:p>
        </p:txBody>
      </p:sp>
      <p:sp>
        <p:nvSpPr>
          <p:cNvPr id="11" name="09">
            <a:extLst>
              <a:ext uri="{FF2B5EF4-FFF2-40B4-BE49-F238E27FC236}">
                <a16:creationId xmlns:a16="http://schemas.microsoft.com/office/drawing/2014/main" id="{A00F2F52-D8A4-42BA-B1D2-E8279C6CD605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4191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graphicFrame>
        <p:nvGraphicFramePr>
          <p:cNvPr id="25" name="Table 24"/>
          <p:cNvGraphicFramePr/>
          <p:nvPr>
            <p:extLst>
              <p:ext uri="{D42A27DB-BD31-4B8C-83A1-F6EECF244321}">
                <p14:modId xmlns:p14="http://schemas.microsoft.com/office/powerpoint/2010/main" val="4047868010"/>
              </p:ext>
            </p:extLst>
          </p:nvPr>
        </p:nvGraphicFramePr>
        <p:xfrm>
          <a:off x="666750" y="2171700"/>
          <a:ext cx="10820400" cy="2793683"/>
        </p:xfrm>
        <a:graphic>
          <a:graphicData uri="http://schemas.openxmlformats.org/drawingml/2006/table">
            <a:tbl>
              <a:tblPr/>
              <a:tblGrid>
                <a:gridCol w="39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sz="2000" dirty="0"/>
                        <a:t>Approach</a:t>
                      </a:r>
                    </a:p>
                  </a:txBody>
                  <a:tcPr anchor="ctr">
                    <a:solidFill>
                      <a:srgbClr val="0067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Bandwidth potential</a:t>
                      </a:r>
                    </a:p>
                  </a:txBody>
                  <a:tcPr anchor="ctr">
                    <a:solidFill>
                      <a:srgbClr val="0067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Coverage robustness</a:t>
                      </a:r>
                    </a:p>
                  </a:txBody>
                  <a:tcPr anchor="ctr">
                    <a:solidFill>
                      <a:srgbClr val="0067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Maturity</a:t>
                      </a:r>
                    </a:p>
                  </a:txBody>
                  <a:tcPr anchor="ctr">
                    <a:solidFill>
                      <a:srgbClr val="0067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000" dirty="0"/>
                        <a:t>Sub-6 GHz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Moderate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High / broad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Established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000" dirty="0"/>
                        <a:t>mmWave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Moderate; blockage-sensitive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Deployed in some networks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000" dirty="0"/>
                        <a:t>THz targeted links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Very 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Short-range; directional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Research / early demonstrations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[One sentence explaining the key comparison]">
            <a:extLst>
              <a:ext uri="{FF2B5EF4-FFF2-40B4-BE49-F238E27FC236}">
                <a16:creationId xmlns:a16="http://schemas.microsoft.com/office/drawing/2014/main" id="{C6CFD331-7D39-43BF-B7AB-10EE67B565BB}"/>
              </a:ext>
            </a:extLst>
          </p:cNvPr>
          <p:cNvSpPr>
            <a:spLocks noGrp="1"/>
          </p:cNvSpPr>
          <p:nvPr/>
        </p:nvSpPr>
        <p:spPr>
          <a:xfrm>
            <a:off x="666750" y="5248275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5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dirty="0"/>
              <a:t>Qualitative literature comparison: THz offers the greatest bandwidth potential, but needs tighter directionality and careful range / blockage management. 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399" y="164504"/>
            <a:ext cx="790575" cy="709481"/>
          </a:xfrm>
          <a:prstGeom prst="rect">
            <a:avLst/>
          </a:prstGeom>
        </p:spPr>
      </p:pic>
      <p:sp>
        <p:nvSpPr>
          <p:cNvPr id="3" name="[Short paper title]">
            <a:extLst>
              <a:ext uri="{FF2B5EF4-FFF2-40B4-BE49-F238E27FC236}">
                <a16:creationId xmlns:a16="http://schemas.microsoft.com/office/drawing/2014/main" id="{AB8642FC-3604-C912-5FC9-DEC7957B8095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6429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/>
              <a:t>Terahertz Communication for 6G</a:t>
            </a:r>
          </a:p>
        </p:txBody>
      </p:sp>
      <p:sp>
        <p:nvSpPr>
          <p:cNvPr id="5" name="Paper ID: [000]">
            <a:extLst>
              <a:ext uri="{FF2B5EF4-FFF2-40B4-BE49-F238E27FC236}">
                <a16:creationId xmlns:a16="http://schemas.microsoft.com/office/drawing/2014/main" id="{28376572-0B68-3DDD-99BA-55E4F78A9E5F}"/>
              </a:ext>
            </a:extLst>
          </p:cNvPr>
          <p:cNvSpPr>
            <a:spLocks noGrp="1"/>
          </p:cNvSpPr>
          <p:nvPr/>
        </p:nvSpPr>
        <p:spPr>
          <a:xfrm>
            <a:off x="8905875" y="6419850"/>
            <a:ext cx="2000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Paper ID: IT220</a:t>
            </a:r>
            <a:r>
              <a:rPr lang="en-US"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D839ABF-3CB7-9CA6-CDA8-770DCE75B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08267" y="164504"/>
            <a:ext cx="1482821" cy="6046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FB055D4-0514-97F9-4E02-EA13E2C8BC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125200" y="0"/>
            <a:ext cx="790575" cy="77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696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clusion and future work">
            <a:extLst>
              <a:ext uri="{FF2B5EF4-FFF2-40B4-BE49-F238E27FC236}">
                <a16:creationId xmlns:a16="http://schemas.microsoft.com/office/drawing/2014/main" id="{7F89A1F1-414D-4328-92FC-3A6A90C4B6E4}"/>
              </a:ext>
            </a:extLst>
          </p:cNvPr>
          <p:cNvSpPr>
            <a:spLocks noGrp="1"/>
          </p:cNvSpPr>
          <p:nvPr/>
        </p:nvSpPr>
        <p:spPr>
          <a:xfrm>
            <a:off x="647700" y="1181100"/>
            <a:ext cx="10810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00" b="1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Conclusion</a:t>
            </a:r>
            <a:r>
              <a:rPr lang="en-GB"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s</a:t>
            </a: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 and </a:t>
            </a:r>
            <a:r>
              <a:rPr lang="en-GB"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F</a:t>
            </a:r>
            <a:r>
              <a:rPr lang="en-US"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uture</a:t>
            </a: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 work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20CAEAF6-D486-4770-BA3C-99BEBFF275D3}"/>
              </a:ext>
            </a:extLst>
          </p:cNvPr>
          <p:cNvSpPr>
            <a:spLocks noGrp="1"/>
          </p:cNvSpPr>
          <p:nvPr/>
        </p:nvSpPr>
        <p:spPr>
          <a:xfrm>
            <a:off x="647700" y="1933575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B0E0EA9F-DE83-4282-B754-BD1AD5A79245}"/>
              </a:ext>
            </a:extLst>
          </p:cNvPr>
          <p:cNvSpPr>
            <a:spLocks noGrp="1"/>
          </p:cNvSpPr>
          <p:nvPr/>
        </p:nvSpPr>
        <p:spPr>
          <a:xfrm>
            <a:off x="647700" y="6238875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sz="2000" dirty="0"/>
          </a:p>
        </p:txBody>
      </p:sp>
      <p:sp>
        <p:nvSpPr>
          <p:cNvPr id="11" name="10">
            <a:extLst>
              <a:ext uri="{FF2B5EF4-FFF2-40B4-BE49-F238E27FC236}">
                <a16:creationId xmlns:a16="http://schemas.microsoft.com/office/drawing/2014/main" id="{4BD800A9-8BEB-4617-AD59-E1099F2E809B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4191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12" name="[The main conclusion supported by your results]">
            <a:extLst>
              <a:ext uri="{FF2B5EF4-FFF2-40B4-BE49-F238E27FC236}">
                <a16:creationId xmlns:a16="http://schemas.microsoft.com/office/drawing/2014/main" id="{15B62364-A303-49DD-924B-38721369B85C}"/>
              </a:ext>
            </a:extLst>
          </p:cNvPr>
          <p:cNvSpPr>
            <a:spLocks noGrp="1"/>
          </p:cNvSpPr>
          <p:nvPr/>
        </p:nvSpPr>
        <p:spPr>
          <a:xfrm>
            <a:off x="666750" y="2133600"/>
            <a:ext cx="10572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5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dirty="0"/>
              <a:t>THz is a promising enabler for selected high-capacity 6G links, not a universal replacement for lower-frequency access.</a:t>
            </a:r>
          </a:p>
        </p:txBody>
      </p:sp>
      <p:sp>
        <p:nvSpPr>
          <p:cNvPr id="13" name="01">
            <a:extLst>
              <a:ext uri="{FF2B5EF4-FFF2-40B4-BE49-F238E27FC236}">
                <a16:creationId xmlns:a16="http://schemas.microsoft.com/office/drawing/2014/main" id="{ED89E6B3-F936-4F87-9641-23913912514D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47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4" name="[Primary contribution]">
            <a:extLst>
              <a:ext uri="{FF2B5EF4-FFF2-40B4-BE49-F238E27FC236}">
                <a16:creationId xmlns:a16="http://schemas.microsoft.com/office/drawing/2014/main" id="{16FC63B3-03B3-4FE2-B73B-519B0A96FE9B}"/>
              </a:ext>
            </a:extLst>
          </p:cNvPr>
          <p:cNvSpPr>
            <a:spLocks noGrp="1"/>
          </p:cNvSpPr>
          <p:nvPr/>
        </p:nvSpPr>
        <p:spPr>
          <a:xfrm>
            <a:off x="1371600" y="3333750"/>
            <a:ext cx="9867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2200" dirty="0"/>
              <a:t>Jointly assess spectrum, propagation, antennas and beam management for realistic high-speed links.</a:t>
            </a:r>
          </a:p>
        </p:txBody>
      </p:sp>
      <p:sp>
        <p:nvSpPr>
          <p:cNvPr id="15" name="02">
            <a:extLst>
              <a:ext uri="{FF2B5EF4-FFF2-40B4-BE49-F238E27FC236}">
                <a16:creationId xmlns:a16="http://schemas.microsoft.com/office/drawing/2014/main" id="{E41CDE10-BF6E-4B37-A80C-A5107B52EC50}"/>
              </a:ext>
            </a:extLst>
          </p:cNvPr>
          <p:cNvSpPr>
            <a:spLocks noGrp="1"/>
          </p:cNvSpPr>
          <p:nvPr/>
        </p:nvSpPr>
        <p:spPr>
          <a:xfrm>
            <a:off x="666750" y="4248150"/>
            <a:ext cx="47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6" name="[Important limitation or scope boundary]">
            <a:extLst>
              <a:ext uri="{FF2B5EF4-FFF2-40B4-BE49-F238E27FC236}">
                <a16:creationId xmlns:a16="http://schemas.microsoft.com/office/drawing/2014/main" id="{9AE013EA-DD61-4348-87BF-B8DE01CF2647}"/>
              </a:ext>
            </a:extLst>
          </p:cNvPr>
          <p:cNvSpPr>
            <a:spLocks noGrp="1"/>
          </p:cNvSpPr>
          <p:nvPr/>
        </p:nvSpPr>
        <p:spPr>
          <a:xfrm>
            <a:off x="1371600" y="4248150"/>
            <a:ext cx="9867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2200" dirty="0"/>
              <a:t>Performance is environment-sensitive; hardware, blockage, mobility and regulation remain constraints.</a:t>
            </a:r>
          </a:p>
        </p:txBody>
      </p:sp>
      <p:sp>
        <p:nvSpPr>
          <p:cNvPr id="17" name="03">
            <a:extLst>
              <a:ext uri="{FF2B5EF4-FFF2-40B4-BE49-F238E27FC236}">
                <a16:creationId xmlns:a16="http://schemas.microsoft.com/office/drawing/2014/main" id="{5755F2FD-82EC-49A6-8A91-31FC34D9E34A}"/>
              </a:ext>
            </a:extLst>
          </p:cNvPr>
          <p:cNvSpPr>
            <a:spLocks noGrp="1"/>
          </p:cNvSpPr>
          <p:nvPr/>
        </p:nvSpPr>
        <p:spPr>
          <a:xfrm>
            <a:off x="666750" y="5162550"/>
            <a:ext cx="47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8" name="[Next research step]">
            <a:extLst>
              <a:ext uri="{FF2B5EF4-FFF2-40B4-BE49-F238E27FC236}">
                <a16:creationId xmlns:a16="http://schemas.microsoft.com/office/drawing/2014/main" id="{56481D09-538C-4B83-816C-D78D251E62FD}"/>
              </a:ext>
            </a:extLst>
          </p:cNvPr>
          <p:cNvSpPr>
            <a:spLocks noGrp="1"/>
          </p:cNvSpPr>
          <p:nvPr/>
        </p:nvSpPr>
        <p:spPr>
          <a:xfrm>
            <a:off x="1371600" y="5162550"/>
            <a:ext cx="9867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2200" dirty="0"/>
              <a:t>Next: simulate multiple THz windows and distances, then validate against published channel measurements.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399" y="164504"/>
            <a:ext cx="790575" cy="709481"/>
          </a:xfrm>
          <a:prstGeom prst="rect">
            <a:avLst/>
          </a:prstGeom>
        </p:spPr>
      </p:pic>
      <p:sp>
        <p:nvSpPr>
          <p:cNvPr id="3" name="[Short paper title]">
            <a:extLst>
              <a:ext uri="{FF2B5EF4-FFF2-40B4-BE49-F238E27FC236}">
                <a16:creationId xmlns:a16="http://schemas.microsoft.com/office/drawing/2014/main" id="{24F83A84-B2BD-16D7-2D45-77CA439BD85B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6429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/>
              <a:t>Terahertz Communication for 6G</a:t>
            </a:r>
          </a:p>
        </p:txBody>
      </p:sp>
      <p:sp>
        <p:nvSpPr>
          <p:cNvPr id="5" name="Paper ID: [000]">
            <a:extLst>
              <a:ext uri="{FF2B5EF4-FFF2-40B4-BE49-F238E27FC236}">
                <a16:creationId xmlns:a16="http://schemas.microsoft.com/office/drawing/2014/main" id="{6FBC2C4E-4013-B6B2-FE91-08703CEC1013}"/>
              </a:ext>
            </a:extLst>
          </p:cNvPr>
          <p:cNvSpPr>
            <a:spLocks noGrp="1"/>
          </p:cNvSpPr>
          <p:nvPr/>
        </p:nvSpPr>
        <p:spPr>
          <a:xfrm>
            <a:off x="8905875" y="6419850"/>
            <a:ext cx="2000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Paper ID: IT220</a:t>
            </a:r>
            <a:r>
              <a:rPr lang="en-US"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F3FC50E-45A2-272E-2743-DEB8C6835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08267" y="164504"/>
            <a:ext cx="1482821" cy="60461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CFCE542-3B0F-3D06-25AF-9319477D4B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125200" y="0"/>
            <a:ext cx="790575" cy="77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144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lected references">
            <a:extLst>
              <a:ext uri="{FF2B5EF4-FFF2-40B4-BE49-F238E27FC236}">
                <a16:creationId xmlns:a16="http://schemas.microsoft.com/office/drawing/2014/main" id="{4836F279-2213-4742-AE3E-1CFD98E662B7}"/>
              </a:ext>
            </a:extLst>
          </p:cNvPr>
          <p:cNvSpPr>
            <a:spLocks noGrp="1"/>
          </p:cNvSpPr>
          <p:nvPr/>
        </p:nvSpPr>
        <p:spPr>
          <a:xfrm>
            <a:off x="647700" y="1181100"/>
            <a:ext cx="10810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00" b="1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Selected </a:t>
            </a:r>
            <a:r>
              <a:rPr lang="en-US"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R</a:t>
            </a: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eferences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BF398B2-FC6D-4A2B-9971-9B5D85B1A2CC}"/>
              </a:ext>
            </a:extLst>
          </p:cNvPr>
          <p:cNvSpPr>
            <a:spLocks noGrp="1"/>
          </p:cNvSpPr>
          <p:nvPr/>
        </p:nvSpPr>
        <p:spPr>
          <a:xfrm>
            <a:off x="647700" y="1933575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4B8024E-9A67-4588-A402-512F49598C8B}"/>
              </a:ext>
            </a:extLst>
          </p:cNvPr>
          <p:cNvSpPr>
            <a:spLocks noGrp="1"/>
          </p:cNvSpPr>
          <p:nvPr/>
        </p:nvSpPr>
        <p:spPr>
          <a:xfrm>
            <a:off x="647700" y="6238875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sz="2000" dirty="0"/>
          </a:p>
        </p:txBody>
      </p:sp>
      <p:sp>
        <p:nvSpPr>
          <p:cNvPr id="11" name="11">
            <a:extLst>
              <a:ext uri="{FF2B5EF4-FFF2-40B4-BE49-F238E27FC236}">
                <a16:creationId xmlns:a16="http://schemas.microsoft.com/office/drawing/2014/main" id="{FF32B62C-0D32-42CB-B523-68D37519BF4F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4191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12" name="[1] [Author(s)], “Paper title,” Venue, year.&#10;&#10;[2] [Author(s)], “P">
            <a:extLst>
              <a:ext uri="{FF2B5EF4-FFF2-40B4-BE49-F238E27FC236}">
                <a16:creationId xmlns:a16="http://schemas.microsoft.com/office/drawing/2014/main" id="{AA090AF3-2C17-4C9E-AE06-C3F6D17EFB51}"/>
              </a:ext>
            </a:extLst>
          </p:cNvPr>
          <p:cNvSpPr>
            <a:spLocks noGrp="1"/>
          </p:cNvSpPr>
          <p:nvPr/>
        </p:nvSpPr>
        <p:spPr>
          <a:xfrm>
            <a:off x="666750" y="2200275"/>
            <a:ext cx="10572750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5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dirty="0"/>
              <a:t>[1] I. F. Akyildiz, J. M. Jornet, and C. Han, “Terahertz band: Next frontier for wireless communications,” Physical Communication, vol. 12, pp. 16–32, 2014.</a:t>
            </a:r>
            <a:br>
              <a:rPr dirty="0"/>
            </a:br>
            <a:br>
              <a:rPr dirty="0"/>
            </a:br>
            <a:r>
              <a:rPr dirty="0"/>
              <a:t>[2] J. M. Jornet and I. F. Akyildiz, “Channel modeling and capacity analysis for electromagnetic wireless nanonetworks in the terahertz band,” IEEE Transactions on Wireless Communications, vol. 10, no. 10, pp. 3211–3221, 2011.</a:t>
            </a:r>
            <a:br>
              <a:rPr dirty="0"/>
            </a:br>
            <a:br>
              <a:rPr dirty="0"/>
            </a:br>
            <a:r>
              <a:rPr dirty="0"/>
              <a:t>[3] “Terahertz Channel Propagation Phenomena, Measurement Techniques and Modeling for 6G Wireless Communication Applications: A Survey,” IEEE Communications Surveys &amp; Tutorials, vol. 24, no. 4, pp. 1957–1996, 2022. doi: 10.1109/COMST.2022.3205505.</a:t>
            </a:r>
            <a:br>
              <a:rPr dirty="0"/>
            </a:br>
            <a:br>
              <a:rPr dirty="0"/>
            </a:br>
            <a:r>
              <a:rPr dirty="0"/>
              <a:t>[4] W. Jiang et al., “Terahertz Communications and Sensing for 6G and Beyond: A Comprehensive Review,” IEEE Communications Surveys &amp; Tutorials, vol. 26, no. 4, pp. 2326–2381, 2024. doi: 10.1109/COMST.2024.3385908.</a:t>
            </a:r>
            <a:br>
              <a:rPr dirty="0"/>
            </a:br>
            <a:br>
              <a:rPr dirty="0"/>
            </a:br>
            <a:r>
              <a:rPr dirty="0"/>
              <a:t>[5] ITU-R, “Framework and overall objectives of the future development of IMT for 2030 and beyond (IMT-2030),” Recommendation M.2160, 2023.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399" y="164504"/>
            <a:ext cx="790575" cy="709481"/>
          </a:xfrm>
          <a:prstGeom prst="rect">
            <a:avLst/>
          </a:prstGeom>
        </p:spPr>
      </p:pic>
      <p:sp>
        <p:nvSpPr>
          <p:cNvPr id="3" name="[Short paper title]">
            <a:extLst>
              <a:ext uri="{FF2B5EF4-FFF2-40B4-BE49-F238E27FC236}">
                <a16:creationId xmlns:a16="http://schemas.microsoft.com/office/drawing/2014/main" id="{1B9F7AF5-E42A-00EF-BE4D-067E48747A32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6429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/>
              <a:t>Terahertz Communication for 6G</a:t>
            </a:r>
          </a:p>
        </p:txBody>
      </p:sp>
      <p:sp>
        <p:nvSpPr>
          <p:cNvPr id="5" name="Paper ID: [000]">
            <a:extLst>
              <a:ext uri="{FF2B5EF4-FFF2-40B4-BE49-F238E27FC236}">
                <a16:creationId xmlns:a16="http://schemas.microsoft.com/office/drawing/2014/main" id="{AF1AB348-C57F-B66D-F0D2-276471E93F39}"/>
              </a:ext>
            </a:extLst>
          </p:cNvPr>
          <p:cNvSpPr>
            <a:spLocks noGrp="1"/>
          </p:cNvSpPr>
          <p:nvPr/>
        </p:nvSpPr>
        <p:spPr>
          <a:xfrm>
            <a:off x="8905875" y="6419850"/>
            <a:ext cx="2000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Paper ID: IT220</a:t>
            </a:r>
            <a:r>
              <a:rPr lang="en-US"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C96AD9-5B4F-756A-7097-0E1906202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08267" y="164504"/>
            <a:ext cx="1482821" cy="6046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C28357D-F5FA-7FCA-89FE-57B2575FCD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125200" y="0"/>
            <a:ext cx="790575" cy="77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884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hank you">
            <a:extLst>
              <a:ext uri="{FF2B5EF4-FFF2-40B4-BE49-F238E27FC236}">
                <a16:creationId xmlns:a16="http://schemas.microsoft.com/office/drawing/2014/main" id="{08330104-10CC-43F9-905C-0CA241AC18D0}"/>
              </a:ext>
            </a:extLst>
          </p:cNvPr>
          <p:cNvSpPr>
            <a:spLocks noGrp="1"/>
          </p:cNvSpPr>
          <p:nvPr/>
        </p:nvSpPr>
        <p:spPr>
          <a:xfrm>
            <a:off x="647700" y="1181100"/>
            <a:ext cx="10810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00" b="1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Thank you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8D3E64B-3C0A-4AC0-BCD5-EEE37A4691C8}"/>
              </a:ext>
            </a:extLst>
          </p:cNvPr>
          <p:cNvSpPr>
            <a:spLocks noGrp="1"/>
          </p:cNvSpPr>
          <p:nvPr/>
        </p:nvSpPr>
        <p:spPr>
          <a:xfrm>
            <a:off x="647700" y="1933575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A40AD5F5-0A1F-419A-A412-666A20575721}"/>
              </a:ext>
            </a:extLst>
          </p:cNvPr>
          <p:cNvSpPr>
            <a:spLocks noGrp="1"/>
          </p:cNvSpPr>
          <p:nvPr/>
        </p:nvSpPr>
        <p:spPr>
          <a:xfrm>
            <a:off x="647700" y="6238875"/>
            <a:ext cx="10896600" cy="0"/>
          </a:xfrm>
          <a:prstGeom prst="line">
            <a:avLst/>
          </a:prstGeom>
          <a:noFill/>
          <a:ln w="9525">
            <a:solidFill>
              <a:srgbClr val="D7E1E9"/>
            </a:solidFill>
          </a:ln>
        </p:spPr>
        <p:txBody>
          <a:bodyPr/>
          <a:lstStyle/>
          <a:p>
            <a:endParaRPr lang="en-GB" sz="2000" dirty="0"/>
          </a:p>
        </p:txBody>
      </p:sp>
      <p:sp>
        <p:nvSpPr>
          <p:cNvPr id="11" name="12">
            <a:extLst>
              <a:ext uri="{FF2B5EF4-FFF2-40B4-BE49-F238E27FC236}">
                <a16:creationId xmlns:a16="http://schemas.microsoft.com/office/drawing/2014/main" id="{6F6B6A6D-0165-4B98-957F-48A48241ACC6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4191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1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12" name="Questions and discussion">
            <a:extLst>
              <a:ext uri="{FF2B5EF4-FFF2-40B4-BE49-F238E27FC236}">
                <a16:creationId xmlns:a16="http://schemas.microsoft.com/office/drawing/2014/main" id="{0173E31E-DFC8-49D6-B6A5-A2E8BDABE0C7}"/>
              </a:ext>
            </a:extLst>
          </p:cNvPr>
          <p:cNvSpPr>
            <a:spLocks noGrp="1"/>
          </p:cNvSpPr>
          <p:nvPr/>
        </p:nvSpPr>
        <p:spPr>
          <a:xfrm>
            <a:off x="666750" y="2466975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Questions and </a:t>
            </a:r>
            <a:r>
              <a:rPr lang="en-US"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D</a:t>
            </a:r>
            <a:r>
              <a:rPr sz="3600" b="1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iscussion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399" y="164504"/>
            <a:ext cx="790575" cy="709481"/>
          </a:xfrm>
          <a:prstGeom prst="rect">
            <a:avLst/>
          </a:prstGeom>
        </p:spPr>
      </p:pic>
      <p:sp>
        <p:nvSpPr>
          <p:cNvPr id="18" name="[Presenter name]&#10;[Institution]">
            <a:extLst>
              <a:ext uri="{FF2B5EF4-FFF2-40B4-BE49-F238E27FC236}">
                <a16:creationId xmlns:a16="http://schemas.microsoft.com/office/drawing/2014/main" id="{998A6644-F7D7-D5FE-BD1E-7F0DE464B2C8}"/>
              </a:ext>
            </a:extLst>
          </p:cNvPr>
          <p:cNvSpPr>
            <a:spLocks noGrp="1"/>
          </p:cNvSpPr>
          <p:nvPr/>
        </p:nvSpPr>
        <p:spPr>
          <a:xfrm>
            <a:off x="666750" y="3829050"/>
            <a:ext cx="90487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lang="en-US" sz="2400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Afifa Tahsin Haq</a:t>
            </a:r>
            <a:endParaRPr sz="2400" b="0" dirty="0">
              <a:solidFill>
                <a:srgbClr val="12263D"/>
              </a:solidFill>
              <a:latin typeface="Calibri"/>
              <a:ea typeface="Calibri"/>
              <a:cs typeface="Calibri"/>
            </a:endParaRPr>
          </a:p>
          <a:p>
            <a:pPr>
              <a:defRPr sz="1950" b="0">
                <a:solidFill>
                  <a:srgbClr val="12263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12263D"/>
                </a:solidFill>
                <a:latin typeface="Calibri"/>
                <a:ea typeface="Calibri"/>
                <a:cs typeface="Calibri"/>
              </a:rPr>
              <a:t>Mawlana Bhashani Science and Technology University, Bangladesh</a:t>
            </a:r>
          </a:p>
        </p:txBody>
      </p:sp>
      <p:sp>
        <p:nvSpPr>
          <p:cNvPr id="22" name="[Email address]">
            <a:extLst>
              <a:ext uri="{FF2B5EF4-FFF2-40B4-BE49-F238E27FC236}">
                <a16:creationId xmlns:a16="http://schemas.microsoft.com/office/drawing/2014/main" id="{5B7145BC-9268-6732-7E20-9E61EAE5B96E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9525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50" b="0">
                <a:solidFill>
                  <a:srgbClr val="0067A6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it220</a:t>
            </a:r>
            <a:r>
              <a:rPr lang="en-US" sz="2400" b="0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400" b="0" dirty="0">
                <a:solidFill>
                  <a:srgbClr val="0067A6"/>
                </a:solidFill>
                <a:latin typeface="Calibri"/>
                <a:ea typeface="Calibri"/>
                <a:cs typeface="Calibri"/>
              </a:rPr>
              <a:t>5@mbstu.ac.bd</a:t>
            </a:r>
          </a:p>
        </p:txBody>
      </p:sp>
      <p:sp>
        <p:nvSpPr>
          <p:cNvPr id="28" name="[Short paper title]">
            <a:extLst>
              <a:ext uri="{FF2B5EF4-FFF2-40B4-BE49-F238E27FC236}">
                <a16:creationId xmlns:a16="http://schemas.microsoft.com/office/drawing/2014/main" id="{48AFBCF5-08DD-8879-4749-8CCD700409CA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6429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/>
              <a:t>Terahertz Communication for 6G</a:t>
            </a:r>
          </a:p>
        </p:txBody>
      </p:sp>
      <p:sp>
        <p:nvSpPr>
          <p:cNvPr id="30" name="Paper ID: [000]">
            <a:extLst>
              <a:ext uri="{FF2B5EF4-FFF2-40B4-BE49-F238E27FC236}">
                <a16:creationId xmlns:a16="http://schemas.microsoft.com/office/drawing/2014/main" id="{2F6385CF-D486-4FAE-9A4C-90D36159464A}"/>
              </a:ext>
            </a:extLst>
          </p:cNvPr>
          <p:cNvSpPr>
            <a:spLocks noGrp="1"/>
          </p:cNvSpPr>
          <p:nvPr/>
        </p:nvSpPr>
        <p:spPr>
          <a:xfrm>
            <a:off x="8905875" y="6419850"/>
            <a:ext cx="2000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00" b="0">
                <a:solidFill>
                  <a:srgbClr val="627185"/>
                </a:solidFill>
                <a:latin typeface="Calibri"/>
                <a:ea typeface="Calibri"/>
                <a:cs typeface="Calibri"/>
              </a:defRPr>
            </a:pPr>
            <a:r>
              <a:rPr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Paper ID: IT220</a:t>
            </a:r>
            <a:r>
              <a:rPr lang="en-US"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0</a:t>
            </a:r>
            <a:r>
              <a:rPr sz="2000" b="0" dirty="0">
                <a:solidFill>
                  <a:srgbClr val="627185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F3D43E7-414C-E865-8D5F-42E111C91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08267" y="164504"/>
            <a:ext cx="1482821" cy="60461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F55E674-2EF9-FA96-720D-7E0A90E5FE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125200" y="0"/>
            <a:ext cx="790575" cy="77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0899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 [1790918326173]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A6DD010-3B72-4FC8-AAF5-76F0709E9778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e5d6a73-9f5e-4bea-a595-d98a5a083ab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984</Words>
  <Application>Microsoft Office PowerPoint</Application>
  <DocSecurity>0</DocSecurity>
  <PresentationFormat>Widescreen</PresentationFormat>
  <Paragraphs>130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Calibri</vt:lpstr>
      <vt:lpstr>ChatGPT [1790918326173]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13</cp:revision>
  <dcterms:created xsi:type="dcterms:W3CDTF">2026-10-02T05:06:18Z</dcterms:created>
  <dcterms:modified xsi:type="dcterms:W3CDTF">2026-10-30T12:36:56Z</dcterms:modified>
</cp:coreProperties>
</file>